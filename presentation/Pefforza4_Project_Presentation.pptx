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107ef3a5234a15" /><Relationship Type="http://schemas.openxmlformats.org/officeDocument/2006/relationships/extended-properties" Target="/docProps/app.xml" Id="R4339e30be855465c" /><Relationship Type="http://schemas.openxmlformats.org/officeDocument/2006/relationships/officeDocument" Target="/ppt/presentation.xml" Id="Rdde32d890cd543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01f0d4d5d94188"/>
  </p:sldMasterIdLst>
  <p:notesMasterIdLst>
    <p:notesMasterId xmlns:r="http://schemas.openxmlformats.org/officeDocument/2006/relationships" r:id="R267c082f02864a00"/>
  </p:notesMasterIdLst>
  <p:sldIdLst>
    <p:sldId xmlns:r="http://schemas.openxmlformats.org/officeDocument/2006/relationships" id="256" r:id="R274f5ddfdf674d21"/>
    <p:sldId xmlns:r="http://schemas.openxmlformats.org/officeDocument/2006/relationships" id="257" r:id="R70cccedc182c4792"/>
    <p:sldId xmlns:r="http://schemas.openxmlformats.org/officeDocument/2006/relationships" id="258" r:id="R96c7377b49674ffd"/>
    <p:sldId xmlns:r="http://schemas.openxmlformats.org/officeDocument/2006/relationships" id="259" r:id="Ra45fdb557b924f3d"/>
    <p:sldId xmlns:r="http://schemas.openxmlformats.org/officeDocument/2006/relationships" id="260" r:id="R78ea5b31d96845c8"/>
    <p:sldId xmlns:r="http://schemas.openxmlformats.org/officeDocument/2006/relationships" id="261" r:id="Ra48455b218d44785"/>
    <p:sldId xmlns:r="http://schemas.openxmlformats.org/officeDocument/2006/relationships" id="262" r:id="R95bf428c98804cbb"/>
    <p:sldId xmlns:r="http://schemas.openxmlformats.org/officeDocument/2006/relationships" id="263" r:id="R2109d809a5ec4022"/>
    <p:sldId xmlns:r="http://schemas.openxmlformats.org/officeDocument/2006/relationships" id="264" r:id="R5e730e8171854e01"/>
    <p:sldId xmlns:r="http://schemas.openxmlformats.org/officeDocument/2006/relationships" id="265" r:id="R30c6493c19e7485b"/>
    <p:sldId xmlns:r="http://schemas.openxmlformats.org/officeDocument/2006/relationships" id="266" r:id="R94a0b087dd6149ec"/>
    <p:sldId xmlns:r="http://schemas.openxmlformats.org/officeDocument/2006/relationships" id="267" r:id="R18c3c00a50044f24"/>
    <p:sldId xmlns:r="http://schemas.openxmlformats.org/officeDocument/2006/relationships" id="268" r:id="R29b9066e8c714d63"/>
    <p:sldId xmlns:r="http://schemas.openxmlformats.org/officeDocument/2006/relationships" id="269" r:id="R779f996409c041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4a36592ad945cd" /><Relationship Type="http://schemas.openxmlformats.org/officeDocument/2006/relationships/slideMaster" Target="/ppt/slideMasters/slideMaster1.xml" Id="Rf201f0d4d5d94188" /><Relationship Type="http://schemas.openxmlformats.org/officeDocument/2006/relationships/notesMaster" Target="/ppt/notesMasters/notesMaster1.xml" Id="R267c082f02864a00" /><Relationship Type="http://schemas.openxmlformats.org/officeDocument/2006/relationships/presProps" Target="/ppt/presProps.xml" Id="R47c95f037e144b66" /><Relationship Type="http://schemas.openxmlformats.org/officeDocument/2006/relationships/viewProps" Target="/ppt/viewProps.xml" Id="Rb43426c21f694b98" /><Relationship Type="http://schemas.openxmlformats.org/officeDocument/2006/relationships/tableStyles" Target="/ppt/tableStyles.xml" Id="Re6cc5e9384d648e3" /><Relationship Type="http://schemas.openxmlformats.org/officeDocument/2006/relationships/slide" Target="/ppt/slides/slide1.xml" Id="R274f5ddfdf674d21" /><Relationship Type="http://schemas.openxmlformats.org/officeDocument/2006/relationships/slide" Target="/ppt/slides/slide2.xml" Id="R70cccedc182c4792" /><Relationship Type="http://schemas.openxmlformats.org/officeDocument/2006/relationships/slide" Target="/ppt/slides/slide3.xml" Id="R96c7377b49674ffd" /><Relationship Type="http://schemas.openxmlformats.org/officeDocument/2006/relationships/slide" Target="/ppt/slides/slide4.xml" Id="Ra45fdb557b924f3d" /><Relationship Type="http://schemas.openxmlformats.org/officeDocument/2006/relationships/slide" Target="/ppt/slides/slide5.xml" Id="R78ea5b31d96845c8" /><Relationship Type="http://schemas.openxmlformats.org/officeDocument/2006/relationships/slide" Target="/ppt/slides/slide6.xml" Id="Ra48455b218d44785" /><Relationship Type="http://schemas.openxmlformats.org/officeDocument/2006/relationships/slide" Target="/ppt/slides/slide7.xml" Id="R95bf428c98804cbb" /><Relationship Type="http://schemas.openxmlformats.org/officeDocument/2006/relationships/slide" Target="/ppt/slides/slide8.xml" Id="R2109d809a5ec4022" /><Relationship Type="http://schemas.openxmlformats.org/officeDocument/2006/relationships/slide" Target="/ppt/slides/slide9.xml" Id="R5e730e8171854e01" /><Relationship Type="http://schemas.openxmlformats.org/officeDocument/2006/relationships/slide" Target="/ppt/slides/slide10.xml" Id="R30c6493c19e7485b" /><Relationship Type="http://schemas.openxmlformats.org/officeDocument/2006/relationships/slide" Target="/ppt/slides/slide11.xml" Id="R94a0b087dd6149ec" /><Relationship Type="http://schemas.openxmlformats.org/officeDocument/2006/relationships/slide" Target="/ppt/slides/slide12.xml" Id="R18c3c00a50044f24" /><Relationship Type="http://schemas.openxmlformats.org/officeDocument/2006/relationships/slide" Target="/ppt/slides/slide13.xml" Id="R29b9066e8c714d63" /><Relationship Type="http://schemas.openxmlformats.org/officeDocument/2006/relationships/slide" Target="/ppt/slides/slide14.xml" Id="R779f996409c0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5587c34654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abbfc179eec471a" /><Relationship Type="http://schemas.openxmlformats.org/officeDocument/2006/relationships/notesMaster" Target="/ppt/notesMasters/notesMaster1.xml" Id="R3e58ac2e89754c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d7cba05d5843c9" /><Relationship Type="http://schemas.openxmlformats.org/officeDocument/2006/relationships/notesMaster" Target="/ppt/notesMasters/notesMaster1.xml" Id="R26219b8432164e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8e1b8ee3440d3" /><Relationship Type="http://schemas.openxmlformats.org/officeDocument/2006/relationships/notesMaster" Target="/ppt/notesMasters/notesMaster1.xml" Id="Rf0ea63f93b714a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6dfeb7ad8d4501" /><Relationship Type="http://schemas.openxmlformats.org/officeDocument/2006/relationships/notesMaster" Target="/ppt/notesMasters/notesMaster1.xml" Id="Rc5d7a1cbe7b5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b099525eb144bc" /><Relationship Type="http://schemas.openxmlformats.org/officeDocument/2006/relationships/notesMaster" Target="/ppt/notesMasters/notesMaster1.xml" Id="Rfcfb2546ee254c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e30be512ee43de" /><Relationship Type="http://schemas.openxmlformats.org/officeDocument/2006/relationships/notesMaster" Target="/ppt/notesMasters/notesMaster1.xml" Id="R9dde693a9fcc40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3800f7fa0a460c" /><Relationship Type="http://schemas.openxmlformats.org/officeDocument/2006/relationships/notesMaster" Target="/ppt/notesMasters/notesMaster1.xml" Id="R496dd4e88b3a40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73de4474044dc4" /><Relationship Type="http://schemas.openxmlformats.org/officeDocument/2006/relationships/notesMaster" Target="/ppt/notesMasters/notesMaster1.xml" Id="Rf0a94e3416574d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7663ccb9b944cb" /><Relationship Type="http://schemas.openxmlformats.org/officeDocument/2006/relationships/notesMaster" Target="/ppt/notesMasters/notesMaster1.xml" Id="R7fad5434d8c244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76684c758648c6" /><Relationship Type="http://schemas.openxmlformats.org/officeDocument/2006/relationships/notesMaster" Target="/ppt/notesMasters/notesMaster1.xml" Id="Rc6ac4a62488a4e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e595cd6db843c3" /><Relationship Type="http://schemas.openxmlformats.org/officeDocument/2006/relationships/notesMaster" Target="/ppt/notesMasters/notesMaster1.xml" Id="R221d36a1bd164c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e7723016c94637" /><Relationship Type="http://schemas.openxmlformats.org/officeDocument/2006/relationships/notesMaster" Target="/ppt/notesMasters/notesMaster1.xml" Id="R749515e4b25c43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67a2c659d0418b" /><Relationship Type="http://schemas.openxmlformats.org/officeDocument/2006/relationships/notesMaster" Target="/ppt/notesMasters/notesMaster1.xml" Id="R1e0204076ae546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aa442595354d57" /><Relationship Type="http://schemas.openxmlformats.org/officeDocument/2006/relationships/notesMaster" Target="/ppt/notesMasters/notesMaster1.xml" Id="R9171ddc20b4c4e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Pefforza 4 e un progetto completo di intelligenza artificiale applicata al gioco del Forza 4.</a:t>
            </a:r>
          </a:p>
          <a:p xmlns:a="http://schemas.openxmlformats.org/drawingml/2006/main">
            <a:r>
              <a:t>La caratteristica distintiva e il collegamento tra una scacchiera fisica, una webcam, un motore decisionale e un feedback AR/vocale.</a:t>
            </a:r>
          </a:p>
          <a:p xmlns:a="http://schemas.openxmlformats.org/drawingml/2006/main">
            <a:r>
              <a:t>Durante la presentazione mostro sia il risultato finale sia l'evoluzione: dal primo PPO alla robustezza ottenuta con minimax, test e diagnostica.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digitale il tabellone e gia una matrice; nel mondo reale bisogna prima ricostruirla da un'immagine rumorosa.</a:t>
            </a:r>
          </a:p>
          <a:p xmlns:a="http://schemas.openxmlformats.org/drawingml/2006/main">
            <a:r>
              <a:t>Ogni passaggio ha convenzioni diverse: colori fisici, ID dei giocatori, coordinate della camera e colonne dell'agente.</a:t>
            </a:r>
          </a:p>
          <a:p xmlns:a="http://schemas.openxmlformats.org/drawingml/2006/main">
            <a:r>
              <a:t>La scelta progettuale fondamentale e stata separare i quattro mondi, definendo contratti semplici e testabili tra un modulo e l'altro.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primo commit conteneva gia l'idea completa, ma in forma di prototipo.</a:t>
            </a:r>
          </a:p>
          <a:p xmlns:a="http://schemas.openxmlformats.org/drawingml/2006/main">
            <a:r>
              <a:t>La seconda fase ha portato la partita sul board reale e ha aggiunto i notebook di training e debug.</a:t>
            </a:r>
          </a:p>
          <a:p xmlns:a="http://schemas.openxmlformats.org/drawingml/2006/main">
            <a:r>
              <a:t>La svolta di maggio e ingegneristica: package installabile, regole condivise, CI, minimax, watchdog, test headless della vision e tool di diagnosi.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tre interfacce servono scopi diversi: la CLI e rapida e trasparente, la GUI rende il gioco piacevole, la modalita AR dimostra l'integrazione fisica.</a:t>
            </a:r>
          </a:p>
          <a:p xmlns:a="http://schemas.openxmlformats.org/drawingml/2006/main">
            <a:r>
              <a:t>Il registro delle difficolta espone lo stesso tipo di funzione a tutte le interfacce.</a:t>
            </a:r>
          </a:p>
          <a:p xmlns:a="http://schemas.openxmlformats.org/drawingml/2006/main">
            <a:r>
              <a:t>Neural non e sinonimo di piu forte: e la modalita sperimentale che usa il checkpoint PPO; hard e impossible usano ricerca classica.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runtime non passa immagini al PPO: BoardDetector traduce prima il frame in una griglia 6x7.</a:t>
            </a:r>
          </a:p>
          <a:p xmlns:a="http://schemas.openxmlformats.org/drawingml/2006/main">
            <a:r>
              <a:t>Il training avviene interamente in Connect4Env, dove gli episodi possono essere eseguiti molto piu velocemente e senza hardware.</a:t>
            </a:r>
          </a:p>
          <a:p xmlns:a="http://schemas.openxmlformats.org/drawingml/2006/main">
            <a:r>
              <a:t>Il punto di contatto e il checkpoint: difficulty.py lo carica come uno dei motori disponibili, accanto a random, euristica e minimax.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rappresentazione e volutamente minima: 42 interi bastano per descrivere completamente la posizione.</a:t>
            </a:r>
          </a:p>
          <a:p xmlns:a="http://schemas.openxmlformats.org/drawingml/2006/main">
            <a:r>
              <a:t>rules.py applica la gravita, trova le colonne disponibili e verifica allineamenti orizzontali, verticali e diagonali.</a:t>
            </a:r>
          </a:p>
          <a:p xmlns:a="http://schemas.openxmlformats.org/drawingml/2006/main">
            <a:r>
              <a:t>Connect4Env aggiunge l'interfaccia Gymnasium: reset, step, observation space, action space e ricompense.</a:t>
            </a:r>
          </a:p>
          <a:p xmlns:a="http://schemas.openxmlformats.org/drawingml/2006/main">
            <a:r>
              <a:t>La penalita -10 per le mosse illegali e conservata per mantenere compatibili i checkpoint gia addestrati.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PPO e un algoritmo actor-critic: la policy propone azioni e una value function stima quanto e promettente lo stato.</a:t>
            </a:r>
          </a:p>
          <a:p xmlns:a="http://schemas.openxmlformats.org/drawingml/2006/main">
            <a:r>
              <a:t>SinglePlayerWrapper trasforma il gioco a due turni in un problema single-agent compatibile con Stable-Baselines3.</a:t>
            </a:r>
          </a:p>
          <a:p xmlns:a="http://schemas.openxmlformats.org/drawingml/2006/main">
            <a:r>
              <a:t>Il modello incluso registra 501.760 timestep; il training e avvenuto su CPU con i parametri PPO standard riportati nel checkpoint.</a:t>
            </a:r>
          </a:p>
          <a:p xmlns:a="http://schemas.openxmlformats.org/drawingml/2006/main">
            <a:r>
              <a:t>La computer vision non partecipa al training: serve soltanto a ricreare, nel mondo reale, la stessa osservazione numerica.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 repository contiene una valutazione esplicita: contro minimax depth 4 il PPO ha vinto il 27,5% delle 40 partite.</a:t>
            </a:r>
          </a:p>
          <a:p xmlns:a="http://schemas.openxmlformats.org/drawingml/2006/main">
            <a:r>
              <a:t>La causa principale e coerente con il training: il modello ha affrontato soprattutto un avversario casuale.</a:t>
            </a:r>
          </a:p>
          <a:p xmlns:a="http://schemas.openxmlformats.org/drawingml/2006/main">
            <a:r>
              <a:t>Il risultato ha guidato il prodotto verso un'architettura ibrida, invece di nascondere la debolezza dietro l'etichetta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Hard usa Negamax con alpha-beta pruning, valutazione euristica e ordinamento delle mosse dal centro verso i bordi.</a:t>
            </a:r>
          </a:p>
          <a:p xmlns:a="http://schemas.openxmlformats.org/drawingml/2006/main">
            <a:r>
              <a:t>Impossible ripete la ricerca a profondita crescente e restituisce l'ultima risposta completata entro il budget di circa tre secondi.</a:t>
            </a:r>
          </a:p>
          <a:p xmlns:a="http://schemas.openxmlformats.org/drawingml/2006/main">
            <a:r>
              <a:t>Prima di qualunque strategia, tactical_safety_net verifica una vittoria immediata e poi una minaccia avversaria immediata.</a:t>
            </a:r>
          </a:p>
          <a:p xmlns:a="http://schemas.openxmlformats.org/drawingml/2006/main">
            <a:r>
              <a:t>Questo pattern e defense in depth: anche un agente debole o difettoso non puo ignorare un quattro-in-fila visibile.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calibrazione raccoglie quattro punti e li ordina automaticamente usando somma e differenza delle coordinate.</a:t>
            </a:r>
          </a:p>
          <a:p xmlns:a="http://schemas.openxmlformats.org/drawingml/2006/main">
            <a:r>
              <a:t>Questo corregge un bug reale: se i punti venivano cliccati in un ordine diverso, numeri e frecce potevano apparire sul lato del board.</a:t>
            </a:r>
          </a:p>
          <a:p xmlns:a="http://schemas.openxmlformats.org/drawingml/2006/main">
            <a:r>
              <a:t>OpenCV calcola una matrice di trasformazione prospettica 3x3 e produce un'immagine rettificata nominalmente 700 per 600 pixel.</a:t>
            </a:r>
          </a:p>
          <a:p xmlns:a="http://schemas.openxmlformats.org/drawingml/2006/main">
            <a:r>
              <a:t>Le dimensioni vengono adattate a multipli esatti di 7 e 6, cosi ogni cella ha confini interi.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HSV e piu adatto del BGR per isolare un colore in presenza di variazioni moderate di luminosita.</a:t>
            </a:r>
          </a:p>
          <a:p xmlns:a="http://schemas.openxmlformats.org/drawingml/2006/main">
            <a:r>
              <a:t>Il rosso usa due bande perche la tonalita circonda il punto zero dell'asse hue; il giallo ne usa una.</a:t>
            </a:r>
          </a:p>
          <a:p xmlns:a="http://schemas.openxmlformats.org/drawingml/2006/main">
            <a:r>
              <a:t>Per ogni cella il detector ignora il 20% del bordo, conta i pixel compatibili e confronta il fill ratio con la soglia del 30%.</a:t>
            </a:r>
          </a:p>
          <a:p xmlns:a="http://schemas.openxmlformats.org/drawingml/2006/main">
            <a:r>
              <a:t>cell_confidences espone il rapporto massimo per aiutare a capire se il problema e luce, riflesso o soglia.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visione assegna 1 al rosso e 2 al giallo, mentre il modello e stato addestrato assumendo sempre 1 uguale self.</a:t>
            </a:r>
          </a:p>
          <a:p xmlns:a="http://schemas.openxmlformats.org/drawingml/2006/main">
            <a:r>
              <a:t>Se l'AI gioca giallo, swap_perspective scambia gli ID prima di chiamare l'agente.</a:t>
            </a:r>
          </a:p>
          <a:p xmlns:a="http://schemas.openxmlformats.org/drawingml/2006/main">
            <a:r>
              <a:t>La modalita fisica mostra il feed specchiato per essere intuitiva: la colonna scelta viene quindi invertita prima di disegnare la freccia.</a:t>
            </a:r>
          </a:p>
          <a:p xmlns:a="http://schemas.openxmlformats.org/drawingml/2006/main">
            <a:r>
              <a:t>VoiceEngine riceve la stessa colonna e accoda il commento senza bloccare il ciclo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suite corrente raccoglie 108 casi, inclusi test parametrizzati su regole, environment, minimax, difficolta, vision, voce e partite complete.</a:t>
            </a:r>
          </a:p>
          <a:p xmlns:a="http://schemas.openxmlformats.org/drawingml/2006/main">
            <a:r>
              <a:t>La CI esegue lint, format check, Mypy e Pytest con coverage su Python 3.10, 3.11, 3.12 e 3.13.</a:t>
            </a:r>
          </a:p>
          <a:p xmlns:a="http://schemas.openxmlformats.org/drawingml/2006/main">
            <a:r>
              <a:t>Tre bug reali sono diventati casi didattici: una mancata parata ha prodotto safety net e watchdog; un warp ruotato ha prodotto corner sorting; un clock condiviso ha spiegato perche l'animazione saltava.</a:t>
            </a:r>
          </a:p>
          <a:p xmlns:a="http://schemas.openxmlformats.org/drawingml/2006/main">
            <a:r>
              <a:t>La voce segue lo stesso principio: se driver o dispositivo audio falliscono, il gioco continua.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roadmap nasce dai limiti osservati nel codice, non da funzionalita decorative.</a:t>
            </a:r>
          </a:p>
          <a:p xmlns:a="http://schemas.openxmlformats.org/drawingml/2006/main">
            <a:r>
              <a:t>La priorita immediata e rendere la vision adattiva alla luce e ridurre la calibrazione manuale.</a:t>
            </a:r>
          </a:p>
          <a:p xmlns:a="http://schemas.openxmlformats.org/drawingml/2006/main">
            <a:r>
              <a:t>Sul lato AI, il miglioramento piu significativo sarebbe un curriculum di avversari o self-play competitivo.</a:t>
            </a:r>
          </a:p>
          <a:p xmlns:a="http://schemas.openxmlformats.org/drawingml/2006/main">
            <a:r>
              <a:t>Per la demo finale consiglio: una partita GUI, il tool diagnose con confidence e infine la raccomandazione AR sul board fisico.</a:t>
            </a:r>
          </a:p>
          <a:p xmlns:a="http://schemas.openxmlformats.org/drawingml/2006/main">
            <a:r>
              <a:t>La conclusione e che il valore del progetto sta nell'integrazione verificabile tra percezione, decisione e interazione.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fd6be68d24c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de5e82ae6b47e0" /><Relationship Type="http://schemas.openxmlformats.org/officeDocument/2006/relationships/slideLayout" Target="/ppt/slideLayouts/slideLayout1.xml" Id="Rf2893faa88074a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893faa88074a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e972311664290" /><Relationship Type="http://schemas.openxmlformats.org/officeDocument/2006/relationships/notesSlide" Target="/ppt/notesSlides/notesSlide1.xml" Id="Rbd47e842567c46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9e97cc19a412c" /><Relationship Type="http://schemas.openxmlformats.org/officeDocument/2006/relationships/notesSlide" Target="/ppt/notesSlides/notesSlide2.xml" Id="R3f839eb4511a4c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71b3f00fd4ed7" /><Relationship Type="http://schemas.openxmlformats.org/officeDocument/2006/relationships/notesSlide" Target="/ppt/notesSlides/notesSlide3.xml" Id="R66dd0794ff43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810253eea417a" /><Relationship Type="http://schemas.openxmlformats.org/officeDocument/2006/relationships/notesSlide" Target="/ppt/notesSlides/notesSlide4.xml" Id="R6402ead3ae8c4c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1f3781e5d4719" /><Relationship Type="http://schemas.openxmlformats.org/officeDocument/2006/relationships/notesSlide" Target="/ppt/notesSlides/notesSlide5.xml" Id="R3639fa9af0f443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882e167a547e2" /><Relationship Type="http://schemas.openxmlformats.org/officeDocument/2006/relationships/notesSlide" Target="/ppt/notesSlides/notesSlide6.xml" Id="Rcb1f2c95d2684c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ddcacff794b32" /><Relationship Type="http://schemas.openxmlformats.org/officeDocument/2006/relationships/notesSlide" Target="/ppt/notesSlides/notesSlide7.xml" Id="R1e88e87079e849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d25ce6eed45c5" /><Relationship Type="http://schemas.openxmlformats.org/officeDocument/2006/relationships/notesSlide" Target="/ppt/notesSlides/notesSlide8.xml" Id="R3a93ec086d8243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daa4507044704" /><Relationship Type="http://schemas.openxmlformats.org/officeDocument/2006/relationships/notesSlide" Target="/ppt/notesSlides/notesSlide9.xml" Id="Rb559d7319c0046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c098b4dac467c" /><Relationship Type="http://schemas.openxmlformats.org/officeDocument/2006/relationships/notesSlide" Target="/ppt/notesSlides/notesSlide10.xml" Id="Rd336a5cd0e5444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73d6b49e64e38" /><Relationship Type="http://schemas.openxmlformats.org/officeDocument/2006/relationships/notesSlide" Target="/ppt/notesSlides/notesSlide11.xml" Id="R7121ca7882114c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a8dbba20e40bd" /><Relationship Type="http://schemas.openxmlformats.org/officeDocument/2006/relationships/notesSlide" Target="/ppt/notesSlides/notesSlide12.xml" Id="R31a6d90056c242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5b7052de64360" /><Relationship Type="http://schemas.openxmlformats.org/officeDocument/2006/relationships/notesSlide" Target="/ppt/notesSlides/notesSlide13.xml" Id="R9ddf46693f5041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9a280bbea4f9d" /><Relationship Type="http://schemas.openxmlformats.org/officeDocument/2006/relationships/notesSlide" Target="/ppt/notesSlides/notesSlide14.xml" Id="Rd8be133c1dec48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3BBBAF-2258-4039-9C96-C1C5B6A3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EB670-7AE5-4364-BE4C-CEAF10FD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2343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+ COMPUTER VISION + 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15C30-EA69-4A12-8984-FC192EA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54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PEFFORZA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A3944-7BA8-4599-98AA-A2E2DECD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Una scacchiera fisica diventa</a:t>
            </a:r>
          </a:p>
          <a:p xmlns:a="http://schemas.openxmlformats.org/drawingml/2006/main">
            <a:pPr algn="l">
              <a:defRPr sz="31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un sistema intelligente.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A6741-7A23-4EB9-A5E7-5CD7EEA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57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Reinforcement learning, minimax, OpenCV, realta aumentata e voce in un unico progetto.</a:t>
            </a:r>
          </a:p>
        </p:txBody>
      </p:sp>
      <p:sp>
        <p:nvSpPr>
          <p:cNvPr id="6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C509B265-C09F-449B-AD9A-4ED7FEF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09700"/>
            <a:ext cx="3905250" cy="3347357"/>
          </a:xfrm>
          <a:prstGeom xmlns:a="http://schemas.openxmlformats.org/drawingml/2006/main" prst="roundRect">
            <a:avLst>
              <a:gd name="adj" fmla="val 2276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CB37A-9758-4EAC-9052-8ED31589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2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EA6B7-2EFA-4A98-B43E-3F6F9C95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128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97FE4-B605-490E-A2E0-E9E6EEBB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3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D3BD7-1D05-4F68-946E-54B83211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019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DF36B-F70C-4759-A11F-D3AF16B4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965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7EBFF-A527-4E22-8882-71AAA5CE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910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A038-3B8E-49C5-806B-C8B6DF3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56" y="1556170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DB562-EE89-4F1A-A0FF-C026E455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2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8FBA1-F294-4D75-A61B-10294725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128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15822-5DCD-4448-86CC-DCB0E65E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3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59FEE-3206-40F6-93C4-F3ED8A3C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019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D42D7-8DB5-4AA2-A91F-FCFBFD3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965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0B50D-32BD-4E8A-B45E-F31399B1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910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15639-A1ED-4916-AE45-EA279E1E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56" y="2097791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A8854-9F79-4F6C-BD06-35B560AC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2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A5ECA-F954-4432-A345-177B01E3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128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86EA0-8942-4B3C-B3D5-77D2602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3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380FC-3E1A-4D8F-8C48-257CABEB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019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FC50B-7C12-4BE3-BCC8-EF62D0B9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965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D3FC4-FF9F-4941-8FEA-1050C8AB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910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54C090-0F2A-4A3A-9663-E49CA0F4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56" y="2639412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F8C31-197D-4480-9E8D-222234B3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2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B8BBBA-0754-4F9F-8CED-C5E59AF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128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F5846C-ED1C-4117-935E-C364557D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3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ABCEBA-645F-43EB-9E55-8FBD373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019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76EAB-50FA-4DBB-8CCC-C9785FCF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965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2BC9B-F5B3-4E8C-BA8C-B636CB79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910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588FD8-083B-4C9E-AA6E-49A2D0E9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56" y="3181033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76D184-6B6F-4D7F-A91E-BE4E1865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2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661D1F-F493-4261-89FD-53FDAD64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128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CD581-DAC2-4EF7-8CF9-5D34773E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3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E33461-BA69-4995-8E9F-E994D053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019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336CF0-ABC6-4DD9-810D-FF416C5C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965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9BA8E9-7512-4156-B6DA-700CB2F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910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E0A4C0-E020-4B11-B52A-78D24ECF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56" y="3722654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B521F8-40FF-493F-B1C5-1A878ADA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2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585113-FBD2-4E2E-BD49-718100E7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128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0004FC-EB8A-4269-AEAD-79AC946C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073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F23EB6-3FB2-4D35-9004-31EE22C0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8019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BBE0B9-BEF8-4655-8774-F64A480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965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A2581F-E0D9-48E0-B733-E1CD9C77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910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0556F5-CE87-4AA7-BB6D-FB3348EF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56" y="4264275"/>
            <a:ext cx="346312" cy="3463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E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ar-recommendation-arrow">
            <a:extLst xmlns:a="http://schemas.openxmlformats.org/drawingml/2006/main">
              <a:ext uri="{FF2B5EF4-FFF2-40B4-BE49-F238E27FC236}">
                <a16:creationId xmlns:a16="http://schemas.microsoft.com/office/drawing/2014/main" id="{CEBDF6F5-F21A-423B-8B8D-764BF80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8650"/>
            <a:ext cx="83820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BED5E1-DB53-4F3B-879A-AA83319D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00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COLONNA 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7C78F0-9F77-4F9E-9FBA-1238571E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4556CD-0511-42DF-9C2B-0C767792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modalita di gioco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C37BD2-1B12-4222-A00C-C493D509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67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348462-0038-490C-B491-602E9156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livelli di difficolta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890D21-FF74-4596-A734-2853545E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rPr>
              <a:t>108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EE1607-23D8-48CC-8ED7-9FA99C56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8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test automatizzati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7EBA66-479C-446A-AE4C-D22F9554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9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Project presentation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B6E626-DEBB-4980-B18F-3DBC3891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229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9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Versione 0.2.0</a:t>
            </a:r>
          </a:p>
        </p:txBody>
      </p:sp>
    </p:spTree>
    <p:extLst>
      <p:ext uri="{BB962C8B-B14F-4D97-AF65-F5344CB8AC3E}">
        <p14:creationId xmlns:p14="http://schemas.microsoft.com/office/powerpoint/2010/main" val="892548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F09CE0BD-C4D2-4938-A427-750617E9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E1AD3352-10E7-4D61-9802-48F1727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LA SFIDA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01B4C-B09C-4228-A4DE-99F34201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Il problema non e scegliere una colonna.</a:t>
            </a:r>
          </a:p>
          <a:p xmlns:a="http://schemas.openxmlformats.org/drawingml/2006/main">
            <a:pPr algn="l">
              <a:def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E mantenere coerenti quattro mondi.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943F5-DD02-4150-994D-E92072D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5CF4A-9CCD-4EFF-8367-AEBA54F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6" name="challenge-node-1">
            <a:extLst xmlns:a="http://schemas.openxmlformats.org/drawingml/2006/main">
              <a:ext uri="{FF2B5EF4-FFF2-40B4-BE49-F238E27FC236}">
                <a16:creationId xmlns:a16="http://schemas.microsoft.com/office/drawing/2014/main" id="{BBF62CED-D9CD-4A53-8FA4-DCB22642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REALTA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FISICA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CEE31-60D4-4C60-B7A0-ABC348A3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luce + prospettiva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3F9B9-5B1A-4CC4-BA53-788EF39B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B85A9-716F-407D-A606-D3A0F60F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38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0" name="challenge-node-2">
            <a:extLst xmlns:a="http://schemas.openxmlformats.org/drawingml/2006/main">
              <a:ext uri="{FF2B5EF4-FFF2-40B4-BE49-F238E27FC236}">
                <a16:creationId xmlns:a16="http://schemas.microsoft.com/office/drawing/2014/main" id="{4CFD8B22-4995-4E14-8EE2-0A6BA9DB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PERCEZIONE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VISIVA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E7CE5-8B8B-4BB6-8E12-74BC415C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pixel -&gt; 42 celle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BB824-A91C-41F9-BD6B-4233B11C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B01B0E-D694-45FE-9F86-928E87A4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51927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151927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4" name="challenge-node-3">
            <a:extLst xmlns:a="http://schemas.openxmlformats.org/drawingml/2006/main">
              <a:ext uri="{FF2B5EF4-FFF2-40B4-BE49-F238E27FC236}">
                <a16:creationId xmlns:a16="http://schemas.microsoft.com/office/drawing/2014/main" id="{B3D60D1C-36CD-404D-95CB-D608484A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908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REGOLE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 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E3A06-4B84-405B-9CFA-0E7E6516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stato -&gt; decisione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B2F4A-FA07-41F4-B0D8-92DB1315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38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C383C-AF1D-415C-A2E0-EACF0F4C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38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8" name="challenge-node-4">
            <a:extLst xmlns:a="http://schemas.openxmlformats.org/drawingml/2006/main">
              <a:ext uri="{FF2B5EF4-FFF2-40B4-BE49-F238E27FC236}">
                <a16:creationId xmlns:a16="http://schemas.microsoft.com/office/drawing/2014/main" id="{3948565C-AFB5-4BE1-B0AE-FE5DDB9B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90800"/>
            <a:ext cx="21907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FEEDBACK</a:t>
            </a:r>
          </a:p>
          <a:p xmlns:a="http://schemas.openxmlformats.org/drawingml/2006/main">
            <a:pPr algn="ctr">
              <a:defRPr sz="172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72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UTENTE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6CAB3-6407-425B-9D23-A770D9CD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AR + voce + GUI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781300" y="3143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FF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524500" y="3143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FF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67700" y="3143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9F43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5200B-D51A-432E-9120-DB4EA177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2C019F-2C9A-41AF-9803-A5701159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Rumore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0E891-76F6-4CFC-A0FE-F9FF2E14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320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ombre, riflessi, camera spostata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4DC70-DCAE-47F8-8141-0CC42121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0F47F8-9C62-4FBD-AB7B-065E79D8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625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Latenza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5F065E-BF91-458E-B2EA-55B59082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67325"/>
            <a:ext cx="320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ricerca profonda senza bloccare l'interfaccia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8B32EA-CDAE-4C9B-8CB4-47D1D8FC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0125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6274F-DE1B-41BE-A5FB-CCF7D4A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625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Credibilita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1313CF-2EB2-4414-8A08-5544339A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67325"/>
            <a:ext cx="320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mai ignorare una vittoria o un blocco immediato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573C17-2F40-487E-83B5-2D459F3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C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9B8B6-3D19-4609-B45E-81C55DE7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Fonte: architettura e casi limite ricavati dal codice del repository.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0BD068-CABF-48E3-ABBF-B7619FB1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49801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1B22738-9369-4F84-90C6-D2C905F6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0283E1F7-A577-4F1A-8940-4CA5FBA6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EVOLUZIONE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8EEB0-4B76-4C1C-969B-8A800BF3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In cinque mesi: da demo monolitica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 sistema installabile e verificato.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64A6E-EBF4-4486-8A42-11487AA3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040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F20E8-C88E-4E03-8218-D1063A6E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38100">
            <a:solidFill>
              <a:srgbClr val="0B0D1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7C1D-0F85-42B6-9A5E-2F6BFED1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rPr>
              <a:t>10 DIC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32FE8-9A34-40C8-A6A2-E4CD7536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241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Primo prototipo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D99E1-A70F-4009-991E-3AEC511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686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PPO + webcam + TTS</a:t>
            </a:r>
          </a:p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577 righe iniziali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59FFE-5922-4F3E-B1B2-D6D068D9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527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2E0D3-F8A2-4D66-AA54-8ACCED0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38100">
            <a:solidFill>
              <a:srgbClr val="0B0D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7024D-3AD8-4847-B454-D8EF9EF7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2905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17 DIC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3529E-4F89-4179-AD98-4D7254F7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Board fisico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F71AB-ABE7-4685-B0A4-0FDD0042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148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Calibrazione, token HSV,</a:t>
            </a:r>
          </a:p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notebook e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2C1D9-C080-42D0-813C-A1829A64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4480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741E2-EB6A-429A-8574-D0A78361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9BFF"/>
          </a:solidFill>
          <a:ln xmlns:a="http://schemas.openxmlformats.org/drawingml/2006/main" w="38100">
            <a:solidFill>
              <a:srgbClr val="0B0D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F3EE5-9F7C-40E7-A5FB-CC130F73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rPr>
              <a:t>19 MAG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49D89-B0DA-46BD-BEF3-47AFDD8C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241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Engineering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AD9E7-8BD7-493D-AD16-145B302A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Package, rules pure,</a:t>
            </a:r>
          </a:p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CI e 28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25666-05B0-448E-9737-EAD644CC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527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54468-4891-41C3-A26C-C2951427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9"/>
          </a:solidFill>
          <a:ln xmlns:a="http://schemas.openxmlformats.org/drawingml/2006/main" w="38100">
            <a:solidFill>
              <a:srgbClr val="0B0D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DECF4-3F6B-4DEA-91DF-0331F533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2905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rPr>
              <a:t>19 MAG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DC4C25-BA08-4897-8149-36A81F2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338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IA ibrida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280DD-53DE-4E47-AEC2-DDB84697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148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5 difficolta, minimax,</a:t>
            </a:r>
          </a:p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safety net e watchdog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0ED9A-D2C6-431D-96A5-7B6DF98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480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6E40B-124D-4FB5-97F5-B5A9F39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38100">
            <a:solidFill>
              <a:srgbClr val="0B0D1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FFA0F-F6C6-4682-BACA-FB1F0F6E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1930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9F43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FF9F43"/>
                </a:solidFill>
                <a:latin typeface="Bahnschrift"/>
                <a:ea typeface="Bahnschrift"/>
                <a:cs typeface="Bahnschrift"/>
              </a:rPr>
              <a:t>25 MAG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FF9FC-A566-4518-B28F-0ED098B9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3241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5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Vision robusta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43D64-D7A2-42D6-9645-81438830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860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Diagnostica live,</a:t>
            </a:r>
          </a:p>
          <a:p xmlns:a="http://schemas.openxmlformats.org/drawingml/2006/main">
            <a:pPr algn="ctr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corner sorting e 108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F8B03-201B-4B00-8489-B8302ECA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9527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9C6B3-252E-4AC5-9A33-F8EA5E0A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36 commit su main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84DDC-9387-47ED-9F76-FC645AC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816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F0E6"/>
                </a:solidFill>
                <a:latin typeface="Segoe UI"/>
                <a:ea typeface="Segoe UI"/>
                <a:cs typeface="Segoe UI"/>
              </a:defRPr>
            </a:pPr>
            <a:r>
              <a:rPr sz="1425" b="0" i="0">
                <a:solidFill>
                  <a:srgbClr val="F4F0E6"/>
                </a:solidFill>
                <a:latin typeface="Segoe UI"/>
                <a:ea typeface="Segoe UI"/>
                <a:cs typeface="Segoe UI"/>
              </a:rPr>
              <a:t>La cronologia racconta una progressione: prima farlo funzionare, poi renderlo forte, infine renderlo verificabile.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4549C6-F064-4E91-B799-F1276683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390C3-564C-4EC2-80C3-81C1B33E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Fonte: git log e statistiche dei commit 4cd278b - 50fa04f.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63CEF5-203A-4469-8107-8043F484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1469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DDA1838-2B49-4B3C-916E-30BCA4BD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14F76E1B-506E-4CAF-9136-77586248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PRODOTTO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14664-37EB-4E60-B9E8-DFC2BEC7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Un solo motore supporta tre esperienze</a:t>
            </a:r>
          </a:p>
          <a:p xmlns:a="http://schemas.openxmlformats.org/drawingml/2006/main">
            <a:pPr algn="l">
              <a:def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e cinque livelli di sfida.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90642-CD6B-4FD5-B3B5-B01F2D5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8F638-3D7C-4E5C-8975-4172B98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52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CLI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9C001-2353-4188-B47D-7CD2F901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9DA5B4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9DA5B4"/>
                </a:solidFill>
                <a:latin typeface="Consolas"/>
                <a:ea typeface="Consolas"/>
                <a:cs typeface="Consolas"/>
              </a:rPr>
              <a:t>1 2 3 4 5 6 7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3833F-878C-40E1-BA74-44E10985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| . . . . . . . |</a:t>
            </a:r>
          </a:p>
          <a:p xmlns:a="http://schemas.openxmlformats.org/drawingml/2006/main">
            <a:pPr algn="ctr">
              <a:def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| . . . O . . . |</a:t>
            </a:r>
          </a:p>
          <a:p xmlns:a="http://schemas.openxmlformats.org/drawingml/2006/main">
            <a:pPr algn="ctr">
              <a:def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| . . X X . . . |</a:t>
            </a:r>
          </a:p>
          <a:p xmlns:a="http://schemas.openxmlformats.org/drawingml/2006/main">
            <a:pPr algn="ctr">
              <a:def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| O O X O X . . |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0E365-E6EE-4FDF-8C11-36F3FF0E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55D6A9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55D6A9"/>
                </a:solidFill>
                <a:latin typeface="Consolas"/>
                <a:ea typeface="Consolas"/>
                <a:cs typeface="Consolas"/>
              </a:rPr>
              <a:t>AI chose column 4  (0.32s)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85F92-B267-4391-A219-60DB11BD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1930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159C8-9855-43A4-9873-AD1E9788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PYGAME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B47D6-CA47-4F9D-A171-FBB927D3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Difficulty: hard  -  AI thinking...</a:t>
            </a:r>
          </a:p>
        </p:txBody>
      </p:sp>
      <p:sp>
        <p:nvSpPr>
          <p:cNvPr id="12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280144E5-9A4B-4AE5-A5D2-A70DCBAC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52750"/>
            <a:ext cx="1981200" cy="1698171"/>
          </a:xfrm>
          <a:prstGeom xmlns:a="http://schemas.openxmlformats.org/drawingml/2006/main" prst="roundRect">
            <a:avLst>
              <a:gd name="adj" fmla="val 4487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339FC-C1C8-41D2-AEFB-BF2718B2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96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2BAD0F-8AED-4BF7-A2B4-391204D6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49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616AF-648F-435B-88BE-76BC2CD8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02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3D901C-077F-458A-8D4E-EE540E58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155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AE031-CA6F-4D3D-9594-53BFEE9A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08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5BC883-E359-40B6-A65F-CD5A1A7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61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26178-CC6E-4B1D-B0AB-D0E8DD27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14" y="3027057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F7A97-547F-4A34-B9A7-FC5C8C16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96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A4517-C586-4979-8B5A-FCA61B16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49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68C83-8A0F-4AD5-B615-D6EE0388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02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265B16-0A29-49D5-9B3B-D4D17205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155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086EF-5012-4622-A7D8-85EC0634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08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952F5-241F-4736-B668-9278013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61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01714-46B6-4622-8320-00CE6879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14" y="3301830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9E8A32-91F8-4955-96EA-7CAD9F7B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96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6DA3B3-8EC7-4739-940A-7E1C5AD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49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366943-6EF9-4D9D-B13C-AF42A65C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02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DFDBB3-9710-4A67-94AF-1EEDB394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155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B7F17-4237-45E1-9C84-CBAF90C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08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F1C203-CDF5-443D-8356-FCE17556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61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094875-CA2B-4E95-8FCA-4720E2D1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14" y="3576604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D25A1-B226-45FC-B0BE-122A6ADB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96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47F4C4-2668-4652-96F5-2DF1641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49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E77C32-EAA2-4E45-9F93-6C3900EF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02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11F73C-3DC0-4C3C-A445-56D8C781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155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2D3D7-EACA-4197-8373-5EDD64FA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08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D60BE9-8FD2-4D5B-B289-BF0CCD0D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61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A838E1-801D-4720-8EBB-6270A155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14" y="3851378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A86976-DE45-4522-B4E2-AB001078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96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336E35-E4F8-4FF4-9450-18955863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49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6528CB-6022-4359-AE8A-7AF8A65C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02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7A55DA-090D-4474-8902-475E2F69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155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966A03-AE17-4647-9939-2797A3D8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08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290728-8652-4939-B76F-BF68FFD9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61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17014E-D8C2-47D1-8829-C5E5665F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14" y="4126151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FCC558-CD02-45DB-A10C-718D6F0C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0296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6D09A-D2AC-4311-9C4F-8B963709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249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749010-EB99-4138-A1A3-89E197B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202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F9E281-95DE-477D-942B-45D07C8A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155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477114-24E9-439B-8E50-0CC63082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108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2052F8-0F92-4F4E-807C-617900CD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0061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095D70-55DE-49FF-8C2C-13446E02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14" y="4400925"/>
            <a:ext cx="175690" cy="1756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DC699F-33A9-4CA6-BD22-EF364F23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76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CE2D21-0704-4E5A-95E1-07100124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32766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DCE5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357A8B-5A24-4F5F-95B7-D747C550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AR FISICA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C3DD93-CF13-41BC-ADD7-37BDB711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9850"/>
            <a:ext cx="2819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FD2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9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BEBB109D-295A-44AB-88CF-3801D13D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1714500" cy="1469571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3F6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D0FF8FA-82FE-4FC2-9BBB-3826AEA9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814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6C1B40-553D-4BF6-8783-A576E28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20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95A19A-DD2B-40FC-93D1-51C27FAB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425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36F058D-1096-4CDC-8881-0CD7AA62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0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E51533-270B-4A81-95EB-7EF5696A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36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4BB10D-385C-4347-8BFB-6B4CE73E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41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3D32CC-4051-4718-891C-38C589A2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646" y="292180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A0F191-EF8A-410E-9FB2-1F61BC37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814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79B6BF-137D-4A2B-B6FC-0818966D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20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321E575-4CFA-4DF8-9847-C973C686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425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A537CD-C538-47C3-B756-646FB60F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0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E3E28C-E9C1-46E9-B053-6D7AFC49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36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2CA0FC-777B-4615-9B87-6EF7D9BB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41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66FC8B6-4E95-40B7-AAE4-2A2CBB1B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646" y="3159589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EC2E204-E179-4878-9098-4C6471A8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814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33A3AF-A947-40D3-8562-EB2BA970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20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78653FB-CADA-4C1F-9428-5C7A9BE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425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AFA5F6C-764C-4B5C-9A0C-3046C1A7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0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7C8147E-1DF4-4239-978D-B2E13BC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36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5979195-CBC3-4D29-ADBD-95D84A5D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41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8EB25BB-2EE7-4881-A6DF-0E16C3B0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646" y="3397374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0735F0-B79D-4F7F-B959-720637B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814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E8CDC6D-62AA-4F8F-894A-FC6BC860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20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3C33390-D66A-43D0-A2B3-8190F739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425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F551BB-9283-4146-8CB9-45C61A14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0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E1C340A-7611-4E1C-ADD4-92966CD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36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036D9FA-D4B0-4071-966A-173EA93C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41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3B1EF18-E84A-4179-A725-1F0C5710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646" y="363515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E066066-C1C0-41A3-AFA5-EFD2ED82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814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62F0717-65CE-4312-BEC8-5470EBB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20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09A159-5719-4C81-9E06-C2F6862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425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F312AE-E9CA-444F-9604-7B64B54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0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4F8B2F9-259B-4D54-B477-CCA34121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36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0D11386-EF6B-40F8-8E3C-60F7FB97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41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4C64E15-6C4D-4656-BD15-8337C60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646" y="3872943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E54CA10-D042-4C74-A544-28123C83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814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3179250-93BC-4C3A-BA7B-BE44ADE2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620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E41339-C987-41C8-8E41-B57E16DB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425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7E6D70-B54A-4F4B-A973-577568AC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0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FB88CED-E396-4A9B-BE4C-F848B05B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036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4EA90F-830F-4D04-90A3-8D3FD6C6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841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2A9986F-692A-463D-BE61-5678FB8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1646" y="4110728"/>
            <a:ext cx="152039" cy="1520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5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866A78D-4D69-41EE-ADE7-807C0021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47925"/>
            <a:ext cx="4572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F526FD-EE02-48C7-BB36-3AF8B558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291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AI recommends: 4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BBBE1C6-F66F-4B56-9366-0F8B2E40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3D5"/>
          </a:solidFill>
          <a:ln xmlns:a="http://schemas.openxmlformats.org/drawingml/2006/main" w="19050">
            <a:solidFill>
              <a:srgbClr val="626B7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5A11B4F-984C-46CA-884B-58479BC0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easy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3A7896-7BCA-4C9C-97BD-768CFEE7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random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F54AEDF-5B55-446F-9DD6-02703195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2578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3D5"/>
          </a:solidFill>
          <a:ln xmlns:a="http://schemas.openxmlformats.org/drawingml/2006/main" w="19050">
            <a:solidFill>
              <a:srgbClr val="55D6A9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E150AF5-0AB7-4500-983D-6A862373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530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medium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CE1E960-49BC-431B-8309-89EE0FFA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102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1-ply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FE3E4E-635E-4A2B-8AE1-19EA03CB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578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3D5"/>
          </a:solidFill>
          <a:ln xmlns:a="http://schemas.openxmlformats.org/drawingml/2006/main" w="19050">
            <a:solidFill>
              <a:srgbClr val="315B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E933D16-BEB9-4508-804E-D538C8FB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530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hard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D1898D-79B2-4C26-BDB6-E075B9E2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6102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minimax d5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24AB618-7DF1-4E70-BDD4-778F30CF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578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E3D5"/>
          </a:solidFill>
          <a:ln xmlns:a="http://schemas.openxmlformats.org/drawingml/2006/main" w="19050">
            <a:solidFill>
              <a:srgbClr val="F0445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BFE7AEA-C955-4979-99FB-438D3740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3530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impossible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4CAE36D-BB5F-4541-A863-189C23D5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6102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iterative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D2B512E-E161-406B-A6DE-2A0630E3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5780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0D14"/>
          </a:solidFill>
          <a:ln xmlns:a="http://schemas.openxmlformats.org/drawingml/2006/main" w="19050">
            <a:solidFill>
              <a:srgbClr val="F4C84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119E3EB-7A51-4230-9CA4-35ABF4A1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3530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neural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3319841-8DCC-415D-8094-30DF13A6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61022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PPO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59B4933-DD64-472D-9CF9-3B057351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C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42E41E-D0F4-4317-955B-3C144864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Fonte: play_cli.py, play_gui.py, play_physical.py e difficulty.py.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67B2779-BA81-472B-AAB1-D0DDEA93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347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4E1AF0C-6BD3-4FE6-B10A-75A37FE2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4678805-6C8F-44E2-AA05-97EF2C77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ARCHITETTURA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F4828-2113-420A-B5C1-FC4318E7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Training e runtime restano separati,</a:t>
            </a:r>
          </a:p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ma parlano la stessa lingua.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D52F6-F3FF-435A-932B-3EED4976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RUNTIME FISICO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745DC-7EBB-485A-9543-872F6E1A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webcam">
            <a:extLst xmlns:a="http://schemas.openxmlformats.org/drawingml/2006/main">
              <a:ext uri="{FF2B5EF4-FFF2-40B4-BE49-F238E27FC236}">
                <a16:creationId xmlns:a16="http://schemas.microsoft.com/office/drawing/2014/main" id="{D65D8329-5263-45BE-A74A-157564B8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05075"/>
            <a:ext cx="1581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19050">
            <a:solidFill>
              <a:srgbClr val="F04452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WEBCAM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BGR frame</a:t>
            </a:r>
          </a:p>
        </p:txBody>
      </p:sp>
      <p:sp>
        <p:nvSpPr>
          <p:cNvPr id="7" name="arch-detector">
            <a:extLst xmlns:a="http://schemas.openxmlformats.org/drawingml/2006/main">
              <a:ext uri="{FF2B5EF4-FFF2-40B4-BE49-F238E27FC236}">
                <a16:creationId xmlns:a16="http://schemas.microsoft.com/office/drawing/2014/main" id="{6945D887-2D6B-428F-BCC3-C12890A4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050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BoardDetector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warp + HSV</a:t>
            </a:r>
          </a:p>
        </p:txBody>
      </p:sp>
      <p:sp>
        <p:nvSpPr>
          <p:cNvPr id="8" name="arch-grid">
            <a:extLst xmlns:a="http://schemas.openxmlformats.org/drawingml/2006/main">
              <a:ext uri="{FF2B5EF4-FFF2-40B4-BE49-F238E27FC236}">
                <a16:creationId xmlns:a16="http://schemas.microsoft.com/office/drawing/2014/main" id="{30F25075-2455-403E-8075-E7995FC8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05075"/>
            <a:ext cx="1581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GRID 6x7</a:t>
            </a:r>
          </a:p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0 / 1 / 2</a:t>
            </a:r>
          </a:p>
        </p:txBody>
      </p:sp>
      <p:sp>
        <p:nvSpPr>
          <p:cNvPr id="9" name="arch-agent">
            <a:extLst xmlns:a="http://schemas.openxmlformats.org/drawingml/2006/main">
              <a:ext uri="{FF2B5EF4-FFF2-40B4-BE49-F238E27FC236}">
                <a16:creationId xmlns:a16="http://schemas.microsoft.com/office/drawing/2014/main" id="{42EB5DEE-6306-4A55-B40E-42714BF7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05075"/>
            <a:ext cx="18669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19050">
            <a:solidFill>
              <a:srgbClr val="55D6A9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Agent registry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minimax / PPO</a:t>
            </a:r>
          </a:p>
        </p:txBody>
      </p:sp>
      <p:sp>
        <p:nvSpPr>
          <p:cNvPr id="10" name="arch-output">
            <a:extLst xmlns:a="http://schemas.openxmlformats.org/drawingml/2006/main">
              <a:ext uri="{FF2B5EF4-FFF2-40B4-BE49-F238E27FC236}">
                <a16:creationId xmlns:a16="http://schemas.microsoft.com/office/drawing/2014/main" id="{A98F6912-3A18-47FD-8737-B1769008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050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AR + VOCE</a:t>
            </a:r>
          </a:p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mossa utente</a:t>
            </a:r>
          </a:p>
        </p:txBody>
      </p:sp>
      <p:cxnSp>
        <p:nvCxnSpPr>
          <p:cNvPr id="1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717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FF"/>
            </a:solidFill>
            <a:prstDash val="solid"/>
            <a:tailEnd type="arrow" w="med" len="med"/>
          </a:ln>
        </p:spPr>
      </p:cxnSp>
      <p:cxnSp>
        <p:nvCxnSpPr>
          <p:cNvPr id="1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577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C842"/>
            </a:solidFill>
            <a:prstDash val="solid"/>
            <a:tailEnd type="arrow" w="med" len="med"/>
          </a:ln>
        </p:spPr>
      </p:cxnSp>
      <p:cxnSp>
        <p:nvCxnSpPr>
          <p:cNvPr id="1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1510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FF"/>
            </a:solidFill>
            <a:prstDash val="solid"/>
            <a:tailEnd type="arrow" w="med" len="med"/>
          </a:ln>
        </p:spPr>
      </p:cxnSp>
      <p:cxnSp>
        <p:nvCxnSpPr>
          <p:cNvPr id="1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2914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FF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E2D64-BAF9-47C5-83F5-87837E46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rPr>
              <a:t>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8DEB2-6B71-4F66-8314-DECE573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00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rch-env">
            <a:extLst xmlns:a="http://schemas.openxmlformats.org/drawingml/2006/main">
              <a:ext uri="{FF2B5EF4-FFF2-40B4-BE49-F238E27FC236}">
                <a16:creationId xmlns:a16="http://schemas.microsoft.com/office/drawing/2014/main" id="{F322E42E-5E3F-4E92-9369-7A3F487F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9621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19050">
            <a:solidFill>
              <a:srgbClr val="315BFF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Connect4Env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regole + reward</a:t>
            </a:r>
          </a:p>
        </p:txBody>
      </p:sp>
      <p:sp>
        <p:nvSpPr>
          <p:cNvPr id="18" name="arch-wrapper">
            <a:extLst xmlns:a="http://schemas.openxmlformats.org/drawingml/2006/main">
              <a:ext uri="{FF2B5EF4-FFF2-40B4-BE49-F238E27FC236}">
                <a16:creationId xmlns:a16="http://schemas.microsoft.com/office/drawing/2014/main" id="{837F886F-359C-41EE-A864-16F276AE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19050">
            <a:solidFill>
              <a:srgbClr val="F4C842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SinglePlayerWrapper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avversario casuale</a:t>
            </a:r>
          </a:p>
        </p:txBody>
      </p:sp>
      <p:sp>
        <p:nvSpPr>
          <p:cNvPr id="19" name="arch-ppo">
            <a:extLst xmlns:a="http://schemas.openxmlformats.org/drawingml/2006/main">
              <a:ext uri="{FF2B5EF4-FFF2-40B4-BE49-F238E27FC236}">
                <a16:creationId xmlns:a16="http://schemas.microsoft.com/office/drawing/2014/main" id="{C47F78D0-98D4-44F4-AC7F-00F659C5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1866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PPO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aggiorna la policy</a:t>
            </a:r>
          </a:p>
        </p:txBody>
      </p:sp>
      <p:sp>
        <p:nvSpPr>
          <p:cNvPr id="20" name="arch-checkpoint">
            <a:extLst xmlns:a="http://schemas.openxmlformats.org/drawingml/2006/main">
              <a:ext uri="{FF2B5EF4-FFF2-40B4-BE49-F238E27FC236}">
                <a16:creationId xmlns:a16="http://schemas.microsoft.com/office/drawing/2014/main" id="{8ED1E30D-EA21-439E-BC64-A163E16E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72000"/>
            <a:ext cx="19240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CHECKPOINT</a:t>
            </a:r>
          </a:p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notebook_model.zip</a:t>
            </a:r>
          </a:p>
        </p:txBody>
      </p:sp>
      <p:cxnSp>
        <p:nvCxnSpPr>
          <p:cNvPr id="21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219450" y="5000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5D6A9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096000" y="5000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5D6A9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648700" y="50006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5D6A9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20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7924800" y="3324225"/>
            <a:ext cx="3810000" cy="124777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F4C842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0A6F8-466A-45A2-BD42-7E5769B5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76675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NEURAL TIER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54B76-77E9-4890-B76A-D60286D2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45CAB-48E0-4A97-8912-78D2DF5B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Fonte: moduli pefforza/vision, envs, agent e interaction.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6C26B-C464-49C3-84CD-DA78A0B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926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FDC8D725-054E-4277-8FA3-42ECB383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9A835194-CADE-489C-82DD-872945F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CORE DI GIOCO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E3858-3DAE-4936-9563-F5499FFF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La matrice 6x7 e il contratto comune</a:t>
            </a:r>
          </a:p>
          <a:p xmlns:a="http://schemas.openxmlformats.org/drawingml/2006/main">
            <a:pPr algn="l">
              <a:def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di tutto il sistema.</a:t>
            </a:r>
          </a:p>
        </p:txBody>
      </p:sp>
      <p:sp>
        <p:nvSpPr>
          <p:cNvPr id="4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95DDEF44-B810-465B-9F97-BC256F7A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795DA-F9B2-4265-B8FA-3AB7C114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3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24E52-75D2-4C8A-A776-5CCCEC33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6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FED40-1A08-42B3-93D5-E04DEEC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58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D4BCE-EA56-40D6-89D7-ADD9D762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71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05D8E-DEFE-45D8-8F00-E8520235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83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51E4D-B97C-41A6-A6A5-685E27F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096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BB916-A167-401E-B53E-39D1C2FC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08" y="2207443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596D8-68D8-4915-A2E2-71DA7CD9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3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31B02-95E0-49FE-9E8D-C429A340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6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C4ABBC-BB20-40F5-B586-E2AE3401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58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D0F20-77F5-4CDA-AB57-87C6142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71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7B0C4A-04F2-4011-82FD-7ACDDC50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83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7B657-E8D9-4AE6-9F70-1B785EFB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096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704F6-5055-4185-81FF-DCD05D5F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08" y="2762274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80315-7B86-4733-A59C-94919E98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3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F32AE-59A3-4E1B-91E4-82ED35EF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6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66D2B-6683-4821-BD9D-ACA79F5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58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5B750-9DA8-4405-9C4F-A7D2DDD2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71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AE25B-4D66-45A1-AD7B-52E14E6D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83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D3E05-BBB1-4118-9E0D-E27921F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096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C7CD7-6F57-4471-9A73-6D74B0F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08" y="3317105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4B63B-E2CA-4017-A049-8FA9A931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3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66F962-829C-4FD1-9FC9-FFCD76A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6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0A9B2-D933-49B6-9E17-46CBB7AB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58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B511D7-7DBB-4060-8807-E1EC7FCF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71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2DB6B-26C9-4299-B1F7-70A82BE1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83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BDAB21-69F4-4185-9748-5D465AD5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096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739BB-9558-468F-9F72-DBCA1C45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08" y="3871936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D99551-8464-4A82-9857-45189CC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3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D18BEF-3A0C-4675-935C-3D3EADA0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6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CF38E1-F7F5-4002-8873-8A74C22D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58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9CE6AB-8633-4987-9453-E49E6317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71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FF6460-86B2-49EF-A88D-37FFDEAA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83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55EE06-CE0A-42D1-8D6C-1542B26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096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CEF755-87AE-4D8D-A540-97A37DF5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08" y="4426768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9F4E60-C6E8-4F5F-995D-5671D869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033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99A52F-3E9C-4241-A453-DAC548E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246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AC5C6F-1EA0-4323-936B-496D298A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458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A0FCFA-5B75-4F7C-B0E0-062D8408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671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0FC6C8-875F-405C-9B1C-A7C89254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883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D65723-5912-45BE-A84A-B1D9D8D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3096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9CF5E0-57F5-46DD-A97B-56B39909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308" y="4981599"/>
            <a:ext cx="354759" cy="3547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DD85DC-13BE-4F44-837F-E88A6403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26B7A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626B7A"/>
                </a:solidFill>
                <a:latin typeface="Consolas"/>
                <a:ea typeface="Consolas"/>
                <a:cs typeface="Consolas"/>
              </a:rPr>
              <a:t>np.ndarray  |  shape=(6,7)  |  dtype=int8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7B3634-5892-47C9-94BC-71351123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47BD5B-3902-4C28-949F-6D69054B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7645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STATO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220C15-57DF-4F35-9D60-59EB5570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42 celle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CDCD81-229D-45CF-AF30-366D46B5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0 vuota  |  1 player 1  |  2 player 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D467C1-3095-4C2E-AA7B-332E3B53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623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F620DB-EB7C-4DA4-89ED-5662073A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623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AZIONE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9DA33F-9F07-467D-A4B6-0491D85D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242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1 colonna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918551-C186-4FD9-9A44-FC1DCCC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intero da 0 a 6; la gravita sceglie la riga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44ED28-696C-48F6-A838-6E6BABF2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481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88380D-D6B5-4102-A3AF-DE50FD2E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4815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REWARD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D76A09-370C-4842-AF3B-BADEB84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+1 / 0 / -1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82EE2B-BD38-4FF1-8CCC-9E26B847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29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vittoria, transizione/pareggio, sconfitta nel wrapper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9817C0-895F-4C99-B682-F76369C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3340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AD0C27-FF1F-4BEB-9FFD-71402E94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9144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GUARDIA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EA7ACBF-8846-40FB-8B93-371E24E5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9590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-10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1177C4-7EB9-4636-811B-5A7633CE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150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mossa illegale: episodio terminato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B60F04-BD03-45C8-9208-65FC28D6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C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433CD4-688A-4096-9B54-384B0368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Fonte: constants.py, rules.py e envs/connect4_env.py.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11E453-2D7E-48CB-B287-B67269B8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8872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6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1B3B8D5F-983C-45A6-BB83-86009CC5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A29725A5-230F-450D-886F-D5A506B3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COME HA IMPARATO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F2F60-0788-45C9-B594-87326F02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591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Il PPO ha imparato giocando,</a:t>
            </a:r>
          </a:p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non guardando immagini.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54077-D0AF-4CB6-8F1F-70723CD4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09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4AB0A-03B0-4929-B2B7-2EA4B042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48025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PPO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3C81-9F93-45C0-B1FA-9966E234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4810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B0D1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0B0D14"/>
                </a:solidFill>
                <a:latin typeface="Segoe UI"/>
                <a:ea typeface="Segoe UI"/>
                <a:cs typeface="Segoe UI"/>
              </a:rPr>
              <a:t>aggiorna policy</a:t>
            </a:r>
          </a:p>
          <a:p xmlns:a="http://schemas.openxmlformats.org/drawingml/2006/main">
            <a:pPr algn="ctr">
              <a:defRPr sz="1125" b="0" i="0">
                <a:solidFill>
                  <a:srgbClr val="0B0D1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0B0D14"/>
                </a:solidFill>
                <a:latin typeface="Segoe UI"/>
                <a:ea typeface="Segoe UI"/>
                <a:cs typeface="Segoe UI"/>
              </a:rPr>
              <a:t>+ value function</a:t>
            </a:r>
          </a:p>
        </p:txBody>
      </p:sp>
      <p:sp>
        <p:nvSpPr>
          <p:cNvPr id="7" name="ppo-observation">
            <a:extLst xmlns:a="http://schemas.openxmlformats.org/drawingml/2006/main">
              <a:ext uri="{FF2B5EF4-FFF2-40B4-BE49-F238E27FC236}">
                <a16:creationId xmlns:a16="http://schemas.microsoft.com/office/drawing/2014/main" id="{1016F228-CC7A-4F0B-A7FC-928E8E5D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1250"/>
            <a:ext cx="2000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OSSERVAZIONE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42 valori</a:t>
            </a:r>
          </a:p>
        </p:txBody>
      </p:sp>
      <p:sp>
        <p:nvSpPr>
          <p:cNvPr id="8" name="ppo-action">
            <a:extLst xmlns:a="http://schemas.openxmlformats.org/drawingml/2006/main">
              <a:ext uri="{FF2B5EF4-FFF2-40B4-BE49-F238E27FC236}">
                <a16:creationId xmlns:a16="http://schemas.microsoft.com/office/drawing/2014/main" id="{5138669D-2308-4A2C-909B-68F72230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2000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AZIONE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colonna 0..6</a:t>
            </a:r>
          </a:p>
        </p:txBody>
      </p:sp>
      <p:sp>
        <p:nvSpPr>
          <p:cNvPr id="9" name="ppo-reward">
            <a:extLst xmlns:a="http://schemas.openxmlformats.org/drawingml/2006/main">
              <a:ext uri="{FF2B5EF4-FFF2-40B4-BE49-F238E27FC236}">
                <a16:creationId xmlns:a16="http://schemas.microsoft.com/office/drawing/2014/main" id="{E8F53404-61BF-4A3E-92E7-3737720B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62500"/>
            <a:ext cx="2000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REWARD</a:t>
            </a:r>
          </a:p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+1 / 0 / -1</a:t>
            </a:r>
          </a:p>
        </p:txBody>
      </p:sp>
      <p:sp>
        <p:nvSpPr>
          <p:cNvPr id="10" name="ppo-next">
            <a:extLst xmlns:a="http://schemas.openxmlformats.org/drawingml/2006/main">
              <a:ext uri="{FF2B5EF4-FFF2-40B4-BE49-F238E27FC236}">
                <a16:creationId xmlns:a16="http://schemas.microsoft.com/office/drawing/2014/main" id="{F214E3D6-A9EF-42A0-9502-9736885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2000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NUOVO STATO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mossa avversaria</a:t>
            </a:r>
          </a:p>
        </p:txBody>
      </p:sp>
      <p:cxnSp>
        <p:nvCxnSpPr>
          <p:cNvPr id="1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76600" y="2781300"/>
            <a:ext cx="5638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C842"/>
            </a:solidFill>
            <a:prstDash val="solid"/>
            <a:tailEnd type="arrow" w="med" len="med"/>
          </a:ln>
        </p:spPr>
      </p:cxnSp>
      <p:cxnSp>
        <p:nvCxnSpPr>
          <p:cNvPr id="12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915525" y="3181350"/>
            <a:ext cx="0" cy="15811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C842"/>
            </a:solidFill>
            <a:prstDash val="solid"/>
            <a:tailEnd type="arrow" w="med" len="med"/>
          </a:ln>
        </p:spPr>
      </p:cxnSp>
      <p:cxnSp>
        <p:nvCxnSpPr>
          <p:cNvPr id="13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276600" y="5162550"/>
            <a:ext cx="5638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C842"/>
            </a:solidFill>
            <a:prstDash val="solid"/>
            <a:tailEnd type="arrow" w="med" len="med"/>
          </a:ln>
        </p:spPr>
      </p:cxnSp>
      <p:cxnSp>
        <p:nvCxnSpPr>
          <p:cNvPr id="14" name=""/>
          <p:cNvCxnSpPr>
            <a:stCxn xmlns:a="http://schemas.openxmlformats.org/drawingml/2006/main" id="10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276475" y="3181350"/>
            <a:ext cx="0" cy="15811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C842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7B91B-231D-4A7D-A95C-0A9E62D0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28850"/>
            <a:ext cx="2914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SinglePlayerWrapper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CE882-FC3B-4C48-90B4-E7168B56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0985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L'ambiente esegue automaticamente</a:t>
            </a:r>
          </a:p>
          <a:p xmlns:a="http://schemas.openxmlformats.org/drawingml/2006/main">
            <a:pPr algn="ctr">
              <a:defRPr sz="120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una mossa casuale dell'avversario.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D34F1-1E23-4CC2-B7EB-AE839A9F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501.760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156D3-0D6A-4C4E-A904-76BEB5DB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timestep nel checkpoint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48564-8403-4935-8FC0-45C037BB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959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rPr>
              <a:t>2.048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D72CC-7023-4D4B-B430-214BA2EF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210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step per rollout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B9BB6-C377-4D59-AB2B-9C022BD5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959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rPr>
              <a:t>64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C493A-39E6-4783-8B94-F18F15F7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210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batch size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A4D5FE-89CE-4200-849A-2B459C1F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defRPr>
            </a:pPr>
            <a:r>
              <a:rPr sz="2550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rPr>
              <a:t>0,99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7C7C2-478F-4A62-A821-9DD28F8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0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gamma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04F94-69C5-4F2A-9895-34468A20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340153-36B4-4090-84ED-661823C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Fonte: train.py e metadata del checkpoint Stable-Baselines3.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1A4BD-8117-42DD-94EB-28E0A0F6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03440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2D3FEB6C-57E0-4D1D-840B-4EBD5AEE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BA4ABB1-3E2B-4C55-B870-8E8FB0C4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VALUTAZIONE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66FD5-B346-4404-ABBA-4824DAC0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Il neurale ha appreso le basi.</a:t>
            </a:r>
          </a:p>
          <a:p xmlns:a="http://schemas.openxmlformats.org/drawingml/2006/main">
            <a:pPr algn="l">
              <a:def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La ricerca classica ha vinto il confronto.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F5F86-9B04-4AC9-A4FA-15F10561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PPO vs minimax depth 4  |  40 partite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74767-B882-423B-8EFA-12ECBC31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6572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3699F-1D24-4729-887E-C0C186F0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807369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68EAB-2BE0-4939-8653-E08C3A51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69" y="2590800"/>
            <a:ext cx="4764881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B3EA9-B312-418B-876A-C8EC848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1464469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27,5%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6B97F-1A6F-4888-AC7C-59003C0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464469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B0D14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0B0D14"/>
                </a:solidFill>
                <a:latin typeface="Segoe UI"/>
                <a:ea typeface="Segoe UI"/>
                <a:cs typeface="Segoe UI"/>
              </a:rPr>
              <a:t>vittorie PPO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8EBBA-B6FF-4804-9EE0-66EAF542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519" y="2695575"/>
            <a:ext cx="4421981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72,5%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AC0DD-5928-4FCB-8ED5-22695FA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519" y="3124200"/>
            <a:ext cx="44219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sconfitte PPO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A459A-7B2E-4F25-AAEB-5CE127E1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Il risultato non invalida il reinforcement learning:</a:t>
            </a:r>
          </a:p>
          <a:p xmlns:a="http://schemas.openxmlformats.org/drawingml/2006/main">
            <a:pPr algn="l">
              <a:defRPr sz="18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mostra esattamente cosa ha imparato e cosa non ha visto.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5A72D-0734-4C71-9717-7CFFC690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5E185-488A-4AEC-AA1D-7213D2C6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764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C2364-F13C-4C5F-A64D-5C0D7D26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Training opponent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4B226-671B-4430-96BC-67C92FFA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812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Avversario casuale: utile per regole e pattern di base, debole sulle tattiche profonde.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CBFFD-3344-4CB4-A3ED-34D16594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D052F-A580-4A8D-BA94-A407F07A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127D7-4836-46AF-A974-20A0410B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Forza del dominio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A4930-3AD5-4424-BB3A-A6D6C23B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Connect 4 ha branching factor &lt;= 7: alpha-beta sfrutta molto bene la struttura del gioco.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B48897-4EF0-4B3E-8954-A72BDBF2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52033D-77AE-4CD2-BBA6-26EA17B1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FD1721-B04D-4B4A-A662-9C5F070C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Decisione progettuale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F46E8-FC09-4313-9AA8-FBB0BCB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Mantenere il PPO come laboratorio neurale e usare minimax per la sfida competitiva.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35C032-C8ED-4D0A-8944-141BBF21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3905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LEZIONE: MISURARE PRIMA DI DICHIARARE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1B2CC-7ACD-43B1-8797-59F6A6A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C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48E1B-F073-404D-A6BF-9E6EA8AB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Fonte: benchmark documentato nel commit 729dddb (40 partite).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77A7D5-71C3-4DD1-A8B9-661AC2D8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57017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7E399FE4-C869-4E05-A4A0-26589C40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F51301E7-6C74-4780-9166-7237BB21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INTELLIGENZA IBRIDA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2BD52-90E4-41BB-AC4A-67004BF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La forza finale combina strategia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 garanzie deterministiche.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A9619-1F5C-4B62-A0F1-2A975E4F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LIVELLI DI DIFFICOLTA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E79BC-1512-4417-BFCC-001709B9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1219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C5FD7-20B7-4E13-825A-FB4A0270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easy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90C35-832A-4072-827C-E1C27E1F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random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BED42-63CC-42E6-AEED-E3B0798C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866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746CA-A774-4722-9058-850D2F6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medium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E641A-17A5-4913-980A-5A3D0C87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0B0D14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0B0D14"/>
                </a:solidFill>
                <a:latin typeface="Segoe UI"/>
                <a:ea typeface="Segoe UI"/>
                <a:cs typeface="Segoe UI"/>
              </a:rPr>
              <a:t>win / block / 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4CCEE-C9F1-4C9B-A20E-8B7ABED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2571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7E9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E9125-0721-4345-A71D-AC18570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hard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1E444-555A-4959-ACB7-B4F3150E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minimax depth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219D9-AD21-4E50-B809-3FAB8849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3295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1B357-0A53-4A71-B241-2C092964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625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4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impossible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D2B9C-D74A-42FB-93F9-1219CFD8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2286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975" b="0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iterative deepening 3s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0B211-5E44-4A98-B8D6-4E6F9E4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388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B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37B3B-011C-49E3-A827-E18BAD2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0275"/>
            <a:ext cx="819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neural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93074-05FD-4D0B-952E-7A96BFA6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102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PPO: ramo sperimentale, non cima della scala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B78B39-37E9-468D-8688-C98675B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716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TACTICAL SAFETY NET</a:t>
            </a:r>
          </a:p>
        </p:txBody>
      </p:sp>
      <p:sp>
        <p:nvSpPr>
          <p:cNvPr id="21" name="safety-win">
            <a:extLst xmlns:a="http://schemas.openxmlformats.org/drawingml/2006/main">
              <a:ext uri="{FF2B5EF4-FFF2-40B4-BE49-F238E27FC236}">
                <a16:creationId xmlns:a16="http://schemas.microsoft.com/office/drawing/2014/main" id="{36D4D1FE-6819-4A13-8140-A3B69A35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POSSO VINCERE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ORA?</a:t>
            </a:r>
          </a:p>
        </p:txBody>
      </p:sp>
      <p:sp>
        <p:nvSpPr>
          <p:cNvPr id="22" name="safety-block">
            <a:extLst xmlns:a="http://schemas.openxmlformats.org/drawingml/2006/main">
              <a:ext uri="{FF2B5EF4-FFF2-40B4-BE49-F238E27FC236}">
                <a16:creationId xmlns:a16="http://schemas.microsoft.com/office/drawing/2014/main" id="{22562705-6964-47D2-B44A-BBDCD21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4810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L'AVVERSARIO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VINCE ORA?</a:t>
            </a:r>
          </a:p>
        </p:txBody>
      </p:sp>
      <p:sp>
        <p:nvSpPr>
          <p:cNvPr id="23" name="safety-delegate">
            <a:extLst xmlns:a="http://schemas.openxmlformats.org/drawingml/2006/main">
              <a:ext uri="{FF2B5EF4-FFF2-40B4-BE49-F238E27FC236}">
                <a16:creationId xmlns:a16="http://schemas.microsoft.com/office/drawing/2014/main" id="{5B4C6018-AB55-4609-843E-945CA3E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00650"/>
            <a:ext cx="1809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19050">
            <a:solidFill>
              <a:srgbClr val="55D6A9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DELEGA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ALL'AGENTE</a:t>
            </a:r>
          </a:p>
        </p:txBody>
      </p:sp>
      <p:sp>
        <p:nvSpPr>
          <p:cNvPr id="24" name="safety-take-win">
            <a:extLst xmlns:a="http://schemas.openxmlformats.org/drawingml/2006/main">
              <a:ext uri="{FF2B5EF4-FFF2-40B4-BE49-F238E27FC236}">
                <a16:creationId xmlns:a16="http://schemas.microsoft.com/office/drawing/2014/main" id="{8B799DBB-6BFB-4988-84ED-6EABAEF0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9555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GIOCA</a:t>
            </a:r>
          </a:p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LA VITTORIA</a:t>
            </a:r>
          </a:p>
        </p:txBody>
      </p:sp>
      <p:sp>
        <p:nvSpPr>
          <p:cNvPr id="25" name="safety-block-threat">
            <a:extLst xmlns:a="http://schemas.openxmlformats.org/drawingml/2006/main">
              <a:ext uri="{FF2B5EF4-FFF2-40B4-BE49-F238E27FC236}">
                <a16:creationId xmlns:a16="http://schemas.microsoft.com/office/drawing/2014/main" id="{6C01B730-3FC1-4BDF-876E-AFFF70CA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481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BLOCCA</a:t>
            </a:r>
          </a:p>
          <a:p xmlns:a="http://schemas.openxmlformats.org/drawingml/2006/main">
            <a:pPr algn="ctr">
              <a:def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LA MINACCIA</a:t>
            </a:r>
          </a:p>
        </p:txBody>
      </p:sp>
      <p:sp>
        <p:nvSpPr>
          <p:cNvPr id="26" name="safety-chosen-agent">
            <a:extLst xmlns:a="http://schemas.openxmlformats.org/drawingml/2006/main">
              <a:ext uri="{FF2B5EF4-FFF2-40B4-BE49-F238E27FC236}">
                <a16:creationId xmlns:a16="http://schemas.microsoft.com/office/drawing/2014/main" id="{4647188B-4618-46E5-8F9C-124EB124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0065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0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random / heuristic /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minimax / PPO</a:t>
            </a:r>
          </a:p>
        </p:txBody>
      </p:sp>
      <p:cxnSp>
        <p:nvCxnSpPr>
          <p:cNvPr id="27" name=""/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239000" y="2867025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C842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6334125" y="323850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6B7A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239000" y="4219575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5D6A9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334125" y="4591050"/>
            <a:ext cx="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26B7A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239000" y="5572125"/>
            <a:ext cx="1543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E9BFF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77504-B658-46A3-839A-FB95A805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394C44-D2EF-44E2-81A8-69EACC76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457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SI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B3785-5C2D-4475-91A1-B0956A6A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371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3760A7-093E-41AD-9F3E-7F1760F0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24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E33923-2512-4D98-9BEC-20A38302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CB2BAF-67D6-462E-9419-FBA52811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Fonte: difficulty.py e agent/minimax.py.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BD258A-F04E-469A-9FD0-A4802E1B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99517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FD142D03-6F58-4E2E-A479-5603E841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DB17DA00-B919-40A4-9E41-F7858059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COMPUTER VISION /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7B11BF-CDB8-40F4-90E3-0A59734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Quattro click trasformano una camera</a:t>
            </a:r>
          </a:p>
          <a:p xmlns:a="http://schemas.openxmlformats.org/drawingml/2006/main">
            <a:pPr algn="l">
              <a:def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inclinata in una griglia misurabile.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B9936-61D8-4DA7-ADE3-CEF93831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PRIMA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623C6-5A73-4B7F-93A6-7C25EE4F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CBD4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A50E5-BCDC-48F2-BD3D-A85655D5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26B7A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626B7A"/>
                </a:solidFill>
                <a:latin typeface="Consolas"/>
                <a:ea typeface="Consolas"/>
                <a:cs typeface="Consolas"/>
              </a:rPr>
              <a:t>FRAME WEBCAM</a:t>
            </a:r>
          </a:p>
        </p:txBody>
      </p:sp>
      <p:sp>
        <p:nvSpPr>
          <p:cNvPr id="7" name="corner-tl">
            <a:extLst xmlns:a="http://schemas.openxmlformats.org/drawingml/2006/main">
              <a:ext uri="{FF2B5EF4-FFF2-40B4-BE49-F238E27FC236}">
                <a16:creationId xmlns:a16="http://schemas.microsoft.com/office/drawing/2014/main" id="{314272F8-3970-47B7-9851-B8CF4D5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rner-tr">
            <a:extLst xmlns:a="http://schemas.openxmlformats.org/drawingml/2006/main">
              <a:ext uri="{FF2B5EF4-FFF2-40B4-BE49-F238E27FC236}">
                <a16:creationId xmlns:a16="http://schemas.microsoft.com/office/drawing/2014/main" id="{BC276FDC-060F-4606-B852-BC9B2C9B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00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rner-br">
            <a:extLst xmlns:a="http://schemas.openxmlformats.org/drawingml/2006/main">
              <a:ext uri="{FF2B5EF4-FFF2-40B4-BE49-F238E27FC236}">
                <a16:creationId xmlns:a16="http://schemas.microsoft.com/office/drawing/2014/main" id="{7F57F9B8-FE67-4D97-9D95-E808D891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62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rner-bl">
            <a:extLst xmlns:a="http://schemas.openxmlformats.org/drawingml/2006/main">
              <a:ext uri="{FF2B5EF4-FFF2-40B4-BE49-F238E27FC236}">
                <a16:creationId xmlns:a16="http://schemas.microsoft.com/office/drawing/2014/main" id="{63E8EBF6-ACC7-4357-9792-9F977F51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48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1562100" y="2886075"/>
            <a:ext cx="249555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BFF"/>
            </a:solidFill>
            <a:prstDash val="solid"/>
          </a:ln>
        </p:spPr>
      </p:cxnSp>
      <p:cxnSp>
        <p:nvCxnSpPr>
          <p:cNvPr id="12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4229100" y="2886075"/>
            <a:ext cx="190500" cy="19621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BFF"/>
            </a:solidFill>
            <a:prstDash val="solid"/>
          </a:ln>
        </p:spPr>
      </p:cxnSp>
      <p:cxnSp>
        <p:nvCxnSpPr>
          <p:cNvPr id="13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>
            <a:off x="1047750" y="4848225"/>
            <a:ext cx="35433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BFF"/>
            </a:solidFill>
            <a:prstDash val="solid"/>
          </a:ln>
        </p:spPr>
      </p:cxnSp>
      <p:cxnSp>
        <p:nvCxnSpPr>
          <p:cNvPr id="14" name=""/>
          <p:cNvCxnSpPr>
            <a:stCxn xmlns:a="http://schemas.openxmlformats.org/drawingml/2006/main" id="10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219200" y="3190875"/>
            <a:ext cx="171450" cy="19431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BFF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72002-DC7F-4EC7-A23E-36C67FD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44261-CA6D-4DD5-9886-06FAC259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10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81B1A-2A90-48A8-A294-7CD3E8E2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581482-80EA-44B2-8A58-1F3B44BC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385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D0E860-DD19-41DD-B650-0A21CD96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624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861C0-027F-4060-B0E8-B0517CD3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E7F048-E5B5-4B3F-BCE9-84A6C82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48BF90-FD8B-477B-BFBD-FFAFD4EB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14975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click in qualsiasi ordine</a:t>
            </a:r>
          </a:p>
        </p:txBody>
      </p:sp>
      <p:sp>
        <p:nvSpPr>
          <p:cNvPr id="23" name="homography">
            <a:extLst xmlns:a="http://schemas.openxmlformats.org/drawingml/2006/main">
              <a:ext uri="{FF2B5EF4-FFF2-40B4-BE49-F238E27FC236}">
                <a16:creationId xmlns:a16="http://schemas.microsoft.com/office/drawing/2014/main" id="{83812A0C-0B72-4B01-ADAD-03AF5318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9925"/>
            <a:ext cx="914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H</a:t>
            </a:r>
          </a:p>
          <a:p xmlns:a="http://schemas.openxmlformats.org/drawingml/2006/main">
            <a:pPr algn="ctr">
              <a:defRPr sz="1800" b="1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3x3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432AFE-8A25-40F5-97A5-B08C726A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omografia</a:t>
            </a:r>
          </a:p>
        </p:txBody>
      </p:sp>
      <p:cxnSp>
        <p:nvCxnSpPr>
          <p:cNvPr id="25" name=""/>
          <p:cNvCxnSpPr>
            <a:stCxn xmlns:a="http://schemas.openxmlformats.org/drawingml/2006/main" id="8" idx="6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29100" y="2886075"/>
            <a:ext cx="13716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04452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40C048-6FAB-4F8F-A1AB-AA9E2644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24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DOPO</a:t>
            </a:r>
          </a:p>
        </p:txBody>
      </p:sp>
      <p:sp>
        <p:nvSpPr>
          <p:cNvPr id="27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4170E091-FB3F-439A-8DD1-FEC69C81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38375"/>
            <a:ext cx="426720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AE22CC-FC59-4B0C-AC2A-B6AA5842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91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C51C2-9286-4199-BFA4-B223C2FE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7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0B5487-753B-436F-B077-945ACD69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3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1594CD-3483-46C2-AF39-51A5A573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9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54D8A-AD8D-445E-BC4A-3AC0130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5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C5501-6330-4ED8-ACFD-20F429C5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71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435CF0-20CC-4DBE-B26E-B5566E34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075" y="23984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C53DDD-C0D0-4B2C-A661-2DA5142F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91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358B7B-D83C-4DCA-BEE4-F6A6BB2E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7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400214-BD3D-4A7E-92DB-01F24241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3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BD568E-2C92-4A3F-B623-C2EC7D06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9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70A445-A7FF-4709-BB2D-C4FBF63F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5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D433F9-2B1E-47D1-92AC-96BD247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71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0B18F5-218A-4584-8DE8-4837EB2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075" y="299024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694EFE-149B-48F8-89A2-FE966B5F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91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028934-4228-4981-BE87-6C2B98C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7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69BD16-F6D2-4A26-AB0A-029471B4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3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B59DD1-7B73-4AB1-B331-E0194F38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9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AE8A86-0FC3-40A8-B18D-DE81122C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5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CE12E7-5BCE-48EE-A12C-FD2D192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71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B084C6-AC6A-4E77-A07C-00A7D56B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075" y="358206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2CA389-0B62-41A8-8C13-F14ECF55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91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3B08B4-8096-421A-A5E2-CB38F07C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7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854E3C-E0FF-40B7-BC05-CB9DF3D6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3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84CDC4-4DDD-4D75-8521-96059C8E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9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18E4AA-205B-4656-BF1A-602F497B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5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689A42-96DB-4AD7-A028-3FFD417E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71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609C11-0241-46A0-A6A9-01BC4CCE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075" y="417388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3D9FB1-F11B-45E6-9253-E774C09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91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827523-151F-48B7-BCC7-CA3106C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7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5F2AC8-BC50-485D-8A5F-81E71473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3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9896B7-5F7C-440C-BF1F-A696F641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9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5F84EF-3E1B-43D8-8C15-D4F157F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5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9276BA-95B7-4873-B8B7-381C58E3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71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6C2643-6E33-43E9-B72F-83AC2D63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075" y="476570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D86AB2-2758-4C57-82C0-95210A91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91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2EB2F0F-326C-4258-9693-0EC9A368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7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AAF183-2E4E-4DFC-BCDC-2E300902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63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1A646F-883B-4FDA-A750-A9C81CA8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99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25D987-7E7E-4F9A-B6C0-2E884EA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35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0E3168-1227-4663-96B2-AAE469DC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971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BE9523-4E1D-4D98-A4D1-C1054FFC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075" y="5357520"/>
            <a:ext cx="378409" cy="37840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9DF6FE-91B3-46E5-B8E7-1E5B20B3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0198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26B7A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626B7A"/>
                </a:solidFill>
                <a:latin typeface="Consolas"/>
                <a:ea typeface="Consolas"/>
                <a:cs typeface="Consolas"/>
              </a:rPr>
              <a:t>700 x 600 px  |  celle regolari  |  TL / TR / BR / BL</a:t>
            </a:r>
          </a:p>
        </p:txBody>
      </p:sp>
      <p:cxnSp>
        <p:nvCxnSpPr>
          <p:cNvPr id="71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515100" y="3667125"/>
            <a:ext cx="5715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15BFF"/>
            </a:solidFill>
            <a:prstDash val="solid"/>
            <a:tailEnd type="arrow" w="med" len="me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2B8595-FA50-4102-B330-5CCE8410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C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63C4A36-1198-44F3-AE3C-C13C943E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Fonte: vision/board_detector.py, calibrate() e _order_points().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300F72F-895B-4349-B82E-D43F502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42969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670E2877-4326-4AAC-9046-70FED6D0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8CD12AD5-A997-4C51-97BA-62A2F3EC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COMPUTER VISION /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EF999-76D6-4CD7-8FA5-504B22A2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Ogni cella diventa una misura esplicita</a:t>
            </a:r>
          </a:p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0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di colore e confidenza.</a:t>
            </a:r>
          </a:p>
        </p:txBody>
      </p:sp>
      <p:sp>
        <p:nvSpPr>
          <p:cNvPr id="4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7C75B6FC-76EB-4A1F-BB13-0A5108B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286250" cy="3673929"/>
          </a:xfrm>
          <a:prstGeom xmlns:a="http://schemas.openxmlformats.org/drawingml/2006/main" prst="roundRect">
            <a:avLst>
              <a:gd name="adj" fmla="val 2074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116AA-7DC8-4BE3-A85F-96444CA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6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8150F-E48F-436C-BF57-59AD3972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49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EE563-140E-47B1-BF8F-DE3825CE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662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9B58B-D161-4CEA-BE16-7CCE0685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76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0C10C-2F85-4E41-9865-F6DA6EED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89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E6B557-645C-4559-8615-EA47C234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03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F96C7-6C38-4E91-B6AB-129C1B32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16" y="225626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71F77-31DD-497B-A099-E24B1BD7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6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C02E6-D259-43D6-815B-486CDF38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49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E673A-E5AB-48D9-8750-EC98D428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662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63ED2-EC56-4B41-82BF-CE6D75A5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76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BB1BD-9B47-496A-9BC6-E8A37B46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89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7151D-7C1B-44F9-9B87-EFACC22A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03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2021A-43AA-429F-BBB7-FC1A1C7B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16" y="2850722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CDCFE-7183-4A4A-85E2-075CD671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6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17F6B-23C9-46FD-BF9D-00FE7460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49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37F68-DC11-4D8E-8D2F-282EB18B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662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BC6279-3140-45CD-9BDA-507F0A97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76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0B179-7337-49B7-9009-702AB35A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89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621F3-DE68-4990-81D1-082E54C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03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255121-483F-4C4F-B221-0CD167EB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16" y="3445184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9FB77-3978-490E-AE12-C0792BE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6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E76BA-D905-447D-BC0C-DC17CD9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49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9CE76B-E8FF-4658-820D-4EAEB979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662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92B1B-D015-485B-88F2-D11DC3E2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76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7CA8B7-69D0-40F7-AEC8-19A6B90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89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BF86D6-7E01-4F16-958D-1627F8C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03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32046-85E8-4F9D-B993-FD9599B5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16" y="4039646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F54BB3-240A-4AEE-9B8C-8FDF35D0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6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93AB47-3186-4A4B-9B83-C1D71403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49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C4181-273F-49FB-996E-14E16F00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662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806471-E3C8-400F-8A33-5D1AC8B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76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F1F040-3BC3-4B3C-B245-02ACD9A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89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85879-2D4E-441F-869E-FB4EE25D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03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81A1A6-9CC3-4F95-851A-DB35CDD7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16" y="4634108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DA6DE9-38CC-454A-AEA9-831ECD5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36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A26BB6-1CB2-4950-9CE7-53CF29DB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649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C93E09-EBB6-498C-9899-B73096D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662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16DD5-CF47-4DDF-8B37-C77369B8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76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BDDA27-8D6E-4DB5-8772-A191963A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689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71216D-7CD9-4219-8069-05EC7FEB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703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804909-69FE-4F34-A78C-002D3D63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716" y="5228570"/>
            <a:ext cx="380099" cy="3800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5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elected-cell">
            <a:extLst xmlns:a="http://schemas.openxmlformats.org/drawingml/2006/main">
              <a:ext uri="{FF2B5EF4-FFF2-40B4-BE49-F238E27FC236}">
                <a16:creationId xmlns:a16="http://schemas.microsoft.com/office/drawing/2014/main" id="{D49E6498-0FC6-4AC7-AE5C-90F2886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362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4C8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EF182F-5E17-43A6-9CCB-8BD23DAE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24550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42 ROI analizzate separatamente</a:t>
            </a:r>
          </a:p>
        </p:txBody>
      </p:sp>
      <p:sp>
        <p:nvSpPr>
          <p:cNvPr id="49" name="roi-zoom">
            <a:extLst xmlns:a="http://schemas.openxmlformats.org/drawingml/2006/main">
              <a:ext uri="{FF2B5EF4-FFF2-40B4-BE49-F238E27FC236}">
                <a16:creationId xmlns:a16="http://schemas.microsoft.com/office/drawing/2014/main" id="{E38BEC18-CCD5-4186-8217-F21B8DF3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24100"/>
            <a:ext cx="1428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ROI</a:t>
            </a:r>
          </a:p>
          <a:p xmlns:a="http://schemas.openxmlformats.org/drawingml/2006/main">
            <a:pPr algn="ctr">
              <a:defRPr sz="150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interna</a:t>
            </a:r>
          </a:p>
        </p:txBody>
      </p:sp>
      <p:cxnSp>
        <p:nvCxnSpPr>
          <p:cNvPr id="50" name=""/>
          <p:cNvCxnSpPr>
            <a:stCxn xmlns:a="http://schemas.openxmlformats.org/drawingml/2006/main" id="47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V="1">
            <a:off x="2886075" y="2771775"/>
            <a:ext cx="2847975" cy="1847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C842"/>
            </a:solidFill>
            <a:prstDash val="solid"/>
            <a:tail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247F89-EDE1-4A30-AA28-4546E984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0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20% di margine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60DF98-DC01-44E2-BE64-F23666D5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574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2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HSV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1C6010-A11E-4526-A0E7-5C2E6867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separa tonalita, saturazione e luminosita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D17202-0862-433B-9A0E-148FBD5A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ROSSO 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5FF871-B36B-43A3-996D-D28DE84B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1430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D16E25-221E-4701-B9CC-344F5957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146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H 0-12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46569B-EB04-4157-BFA9-04B18936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ROSSO 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04F8D0-6BE7-4BAD-B8AD-48ABEFE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14287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225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FAFBA8-155F-472B-AC83-73BD05D4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861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H 165-180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F91745-242C-484C-A7A6-82D5F689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767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GIALLO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A890D73-FACA-43A6-AE76-46AA6265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000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768DBF-F93F-4139-B6F3-A385C84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0576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F4F0E6"/>
                </a:solidFill>
                <a:latin typeface="Consolas"/>
                <a:ea typeface="Consolas"/>
                <a:cs typeface="Consolas"/>
              </a:defRPr>
            </a:pPr>
            <a:r>
              <a:rPr sz="975" b="0" i="0">
                <a:solidFill>
                  <a:srgbClr val="F4F0E6"/>
                </a:solidFill>
                <a:latin typeface="Consolas"/>
                <a:ea typeface="Consolas"/>
                <a:cs typeface="Consolas"/>
              </a:rPr>
              <a:t>H 18-45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09C5640-E946-4E17-B382-9DA1FC9A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FILL RATIO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58A77E-C464-47CA-B944-42444F9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0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A3D7DE-2B3F-4D8B-96F2-244FDB8D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591050"/>
            <a:ext cx="914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E6497E-4549-4BDC-826F-70ECD7B6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53390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4B0A80-9466-4520-8312-480803D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43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9DA5B4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9DA5B4"/>
                </a:solidFill>
                <a:latin typeface="Consolas"/>
                <a:ea typeface="Consolas"/>
                <a:cs typeface="Consolas"/>
              </a:rPr>
              <a:t>30%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F910DD-9881-4219-95C6-BB34FCD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04452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04452"/>
                </a:solidFill>
                <a:latin typeface="Consolas"/>
                <a:ea typeface="Consolas"/>
                <a:cs typeface="Consolas"/>
              </a:rPr>
              <a:t>64%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C6BE5ED-C99A-41C7-9020-CC71A016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292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CLASSIFICATA: ROSSA</a:t>
            </a:r>
          </a:p>
        </p:txBody>
      </p:sp>
      <p:sp>
        <p:nvSpPr>
          <p:cNvPr id="70" name="confidence-formula">
            <a:extLst xmlns:a="http://schemas.openxmlformats.org/drawingml/2006/main">
              <a:ext uri="{FF2B5EF4-FFF2-40B4-BE49-F238E27FC236}">
                <a16:creationId xmlns:a16="http://schemas.microsoft.com/office/drawing/2014/main" id="{97C28CB5-CBCB-471B-B7DD-8BDFAB13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72050"/>
            <a:ext cx="3543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19050">
            <a:solidFill>
              <a:srgbClr val="7E9BFF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confidence = max(pixel rossi, pixel gialli) / pixel ROI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46550C-0275-4762-8C47-D14A5E7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8157D2-73F4-450F-8FB2-D227EB51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Fonte: _DEFAULT_*_RANGE, _CELL_MARGIN_FRAC e _FILL_THRESHOLD.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3FE055-BB29-4546-8475-2DBDB87D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6877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5E702A92-8EF4-426F-ACA3-27B38FA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9754198D-31AC-4ECA-9A0B-07A40FA9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DEMO FISICA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9E47D-1D08-4337-8469-88D4F457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Dal frame alla freccia AR:</a:t>
            </a:r>
          </a:p>
          <a:p xmlns:a="http://schemas.openxmlformats.org/drawingml/2006/main">
            <a:pPr algn="l">
              <a:def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sei trasformazioni controllate.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6AC4B-5022-4B44-9B31-8C36C5B0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C6AE9-B300-411F-B541-E8440546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demo-step-1">
            <a:extLst xmlns:a="http://schemas.openxmlformats.org/drawingml/2006/main">
              <a:ext uri="{FF2B5EF4-FFF2-40B4-BE49-F238E27FC236}">
                <a16:creationId xmlns:a16="http://schemas.microsoft.com/office/drawing/2014/main" id="{2984A87C-546B-4056-B779-7E14E56A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657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04452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CATTURA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frame webcam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specchiato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96B44-651F-4618-9102-77D5EB99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95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D65F5-F2CE-4F47-BBB4-39424502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0F098-24EE-4F94-B5AD-B22AF0D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DB430-CA9B-4B9F-A0F4-37B2A313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1" name="demo-step-2">
            <a:extLst xmlns:a="http://schemas.openxmlformats.org/drawingml/2006/main">
              <a:ext uri="{FF2B5EF4-FFF2-40B4-BE49-F238E27FC236}">
                <a16:creationId xmlns:a16="http://schemas.microsoft.com/office/drawing/2014/main" id="{738C6696-3DB6-423D-A2DB-8052CDBC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24150"/>
            <a:ext cx="1657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15BFF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VISION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warp + HSV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-&gt; grid 6x7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86171-234B-40E3-B20A-BD836DBD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95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06B9E-D62F-4A11-B491-28B0CCAA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063D33-9A00-41FB-9BC3-A634D28C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3CB47-8684-4E85-83D8-71ED4A85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6" name="demo-step-3">
            <a:extLst xmlns:a="http://schemas.openxmlformats.org/drawingml/2006/main">
              <a:ext uri="{FF2B5EF4-FFF2-40B4-BE49-F238E27FC236}">
                <a16:creationId xmlns:a16="http://schemas.microsoft.com/office/drawing/2014/main" id="{561F3B4A-2E24-46AA-ABCA-C0098D4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657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4C842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PROSPETTIVA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1=rosso / 2=giallo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-&gt; 1=self / 2=opp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C472B3-EF21-4A58-BE45-03F4C634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95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DC02E-C9F4-4980-BBED-00D5C93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04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081ADA-4B63-4DF7-A1A2-FD0993F6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B54CA-7C17-4EBC-83D5-D22978B0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1" name="demo-step-4">
            <a:extLst xmlns:a="http://schemas.openxmlformats.org/drawingml/2006/main">
              <a:ext uri="{FF2B5EF4-FFF2-40B4-BE49-F238E27FC236}">
                <a16:creationId xmlns:a16="http://schemas.microsoft.com/office/drawing/2014/main" id="{F95560BF-27F5-4D3E-8846-21CEFE19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24150"/>
            <a:ext cx="1657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5D6A9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DECISIONE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safety net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+ agente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1405F-B9A9-4450-80E5-0C74EE09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788C9-78E2-4D6C-8E62-A8ADD08F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C7B8FA-52D2-485C-A145-87C1F8D1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A5DA22-7099-4BDF-A670-DA28E500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95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6" name="demo-step-5">
            <a:extLst xmlns:a="http://schemas.openxmlformats.org/drawingml/2006/main">
              <a:ext uri="{FF2B5EF4-FFF2-40B4-BE49-F238E27FC236}">
                <a16:creationId xmlns:a16="http://schemas.microsoft.com/office/drawing/2014/main" id="{582D6C7B-B8D9-4967-8C52-E394E3FF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657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9F43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MIRROR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col = 6 - col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per il feed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04B9FA-9F87-440F-8701-E026314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956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197222-EFB0-477E-B20C-D8D98E8C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0040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2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5A70B-D84E-4254-92D7-7B7E8EE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9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13F96-0CC8-47A7-8538-A71CCBA3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95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1" name="demo-step-6">
            <a:extLst xmlns:a="http://schemas.openxmlformats.org/drawingml/2006/main">
              <a:ext uri="{FF2B5EF4-FFF2-40B4-BE49-F238E27FC236}">
                <a16:creationId xmlns:a16="http://schemas.microsoft.com/office/drawing/2014/main" id="{E5E18FE7-322F-41E1-A2DD-59C82C1F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24150"/>
            <a:ext cx="1657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51927"/>
            </a:solidFill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OUTPUT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freccia AR</a:t>
            </a:r>
          </a:p>
          <a:p xmlns:a="http://schemas.openxmlformats.org/drawingml/2006/main">
            <a:pPr algn="ctr">
              <a:def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+ voce</a:t>
            </a:r>
          </a:p>
        </p:txBody>
      </p:sp>
      <p:sp>
        <p:nvSpPr>
          <p:cNvPr id="32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F6084FCE-6382-4FC0-B649-3079340C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4003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56A012-064A-44C1-8C9D-F3BC8E8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90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B23AF6-5082-4C3B-BA79-B2ED0D2E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7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8865F4-9A30-4716-9587-7EF00E6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5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EE43EF-8400-43B4-9301-77B52CC8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72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EB8981-9BB0-42A0-ACCB-63166C99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00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2D4EE-547D-43CF-89EF-F153128E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27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9C31D-3CEE-4169-AEB9-45DD2ADD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55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C147D1-D055-48B0-AF0D-F2FC8AE0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90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9EDB44-9C6F-44F4-ACC2-1544C620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7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500BEE-F0D5-4135-9061-FDD23CD2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5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241DD1-F958-4DF5-A75A-8DA8FA0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72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06A249-C8B2-4954-B8CF-04BE36FE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00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121773-089A-4210-8D84-8C9F0459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27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5184CF-7A5E-4EDF-A97D-3C25EF1A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55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8F5C21-4F1A-4A61-BB9E-88ACEAEB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90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BD6567-8D1D-498F-AEED-461C3D22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7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945E30-99A3-42BF-843E-6A3698C4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5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159CE8-7D9A-4304-8ABC-A64C52F0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72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341E35-525E-499F-A2AD-13B9295F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00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11C11-018D-4A90-AF31-C3724116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27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58073D-E5E7-4700-9BEC-E0E3285E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55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A3B085-32EA-487C-A602-25C7D65F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90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FDC54A-DB19-4744-9083-665C789D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7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DE3E6FC-A348-48DF-93B2-1E804EBF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5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400990-659B-4982-A024-5D22DD65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72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145A8C-834E-4C9F-B9A3-28485B26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00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A7F3AD-95EC-4A0F-B817-4F3E3BF6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27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9A0FFA-554D-4BF6-8733-F19E8CB4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55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C5F416-8729-4783-971A-652F6BF8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90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DE0273-A99E-4FC7-9A23-B56DDBDB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7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05E90AB-7E32-4026-93A1-5DF3ABF2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5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2C847BB-ECC5-4E45-AA2E-52862007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72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E83C3C2-2B80-4681-A8BA-C261FA4E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00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7F5E1E-BAAB-4FC2-80D6-D61F624D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27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579D31-3055-4EC8-9EDD-E5D41110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55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85AA2A5-6FC5-4427-989F-2A9375F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790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31AE4E-CA41-4536-BCC7-E5B51EC7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117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4390C5-0A72-4B89-B7E6-82C6410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445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F616F6-1353-409D-9A35-D2CFB540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772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76D7D1-5C80-40CE-871E-578BAA4B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100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DD0FA53-2EAB-422D-A12F-0F527B18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427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19531CE-557E-4D50-B71F-156D3050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755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D539EF-D758-4AB0-8462-FE90BDBF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VISION VIEW</a:t>
            </a:r>
          </a:p>
        </p:txBody>
      </p:sp>
      <p:sp>
        <p:nvSpPr>
          <p:cNvPr id="76" name="swap-perspective">
            <a:extLst xmlns:a="http://schemas.openxmlformats.org/drawingml/2006/main">
              <a:ext uri="{FF2B5EF4-FFF2-40B4-BE49-F238E27FC236}">
                <a16:creationId xmlns:a16="http://schemas.microsoft.com/office/drawing/2014/main" id="{37873944-F86C-42E5-9A14-944CE9FE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57750"/>
            <a:ext cx="1962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52400" tIns="114300" rIns="152400" bIns="1143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C842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4C842"/>
                </a:solidFill>
                <a:latin typeface="Consolas"/>
                <a:ea typeface="Consolas"/>
                <a:cs typeface="Consolas"/>
              </a:rPr>
              <a:t>swap_perspective()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608FD6D-C41A-4D23-A2E0-46756026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62525"/>
            <a:ext cx="4381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onnect4-board">
            <a:extLst xmlns:a="http://schemas.openxmlformats.org/drawingml/2006/main">
              <a:ext uri="{FF2B5EF4-FFF2-40B4-BE49-F238E27FC236}">
                <a16:creationId xmlns:a16="http://schemas.microsoft.com/office/drawing/2014/main" id="{0972F13A-2EDE-4F71-905D-D70C8116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003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245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7F041B2-61D9-4ED8-8186-9634DF87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90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5F889C-72E9-4F0D-B9B4-D8A296DF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917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0301DAF-460B-45EC-B091-292057E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245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7935C36-7696-42C4-B777-03A2DBF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2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4FC1253-754D-4805-B09C-4F2C15C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900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D0CB67A-45A0-4CB9-BB7B-8FF0DDB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27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991269-AFA8-46C5-A487-B647B7B9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555" y="4433426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E65287A-B6D1-4FDD-854A-B389DEE3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90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B1C131-71F5-4D5C-8D95-941D2220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917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C683A2-EFA4-4E08-BD0D-934BCDAB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245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4745C9E-A3A9-4585-9743-B14B986E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2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993B639-F35C-48C3-9BE3-DDA7B20D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900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140718B-D23E-464E-942F-11C19FFE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27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42EF334-B1A5-4679-9D1F-628F9F80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555" y="4766324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F77AD2-EE33-425B-AF3E-FC12407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90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AE27529-AB1E-4D2C-B04F-0178FF8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917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9922A3-E65F-4CB8-8FAC-4315161B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245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B8C5872-9C05-4A2D-9932-09CBB36A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2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9AC8BA0-0ED9-43AD-85E2-BEE7012E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900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C15E97E-50A6-4C54-91AA-9407F970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27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4DE8ECC-508D-4163-8C7A-943CFEF9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555" y="5099223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840603C-9502-4C5E-AEFF-0B1467F2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90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88E074-19B0-4034-9DCE-6B10BCB1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917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FD2F22-40E4-4AF0-9995-5439BAA7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245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6016D0F-AEBD-418A-A18C-9A501544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2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A0211DC-A5B1-4843-9B4A-FB922BD9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900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7C3A2A1-25D6-436F-96F9-E4E7A9D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27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3065C44-B34B-40B1-B7B2-8CCCC4DB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555" y="5432122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FF7EC6D-08CD-4B2E-A790-9C810527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90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7030A3C-9AD4-49AC-916C-4DE21747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917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0C026E5-FF86-41C5-86C2-265A0794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245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815FE4-C02C-468B-A5A9-6B0E1FA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2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E64B821-E7B1-4773-85A7-01D0C6DC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900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615988-78BF-4A39-B306-652AE6B3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27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B3F3B97-CF36-4886-A7DD-AD1B778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555" y="5765021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43CE785-CEF2-4571-BC93-826C0C78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1590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1D5936-D7C9-4C28-9FFC-F6E67F1F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5917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025574B-B335-473F-B937-C50E337F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245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26C09A1-4516-428B-BD07-27355BD5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572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E98871-F6B9-4B5F-A3B4-32C1EC39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8900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3CB470F-D735-4B73-9030-DCC239A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227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CF30C40-83BD-4690-BA9F-A01BFEE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7555" y="6097919"/>
            <a:ext cx="212855" cy="2128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E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93B04B6-C6F6-45F5-AAAD-5FC8E165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38600"/>
            <a:ext cx="2400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AGENT VIEW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308DEC9-85A9-4466-BB4E-92D3574F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14850"/>
            <a:ext cx="66675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AD1C3C0-6C32-4BC0-B72B-1A95F60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0530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COLONNA 4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56BA508-6D9A-4425-8846-BDC4100A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3400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"Putting in column 4."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6682F96-038D-429E-B5E9-CBE4F573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CC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CFEFA64-F365-4847-900C-085986A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Fonte: play_physical.py, rules.swap_perspective() e BoardDetector overlays.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8DF6F40-7DD8-42D3-8564-9CD6AC6D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8826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D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097F0CAA-FE21-4CE2-BB4D-47F2A8ED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09171164-CBB6-479C-8715-414DC949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F0E6"/>
                </a:solidFill>
                <a:latin typeface="Bahnschrift"/>
                <a:ea typeface="Bahnschrift"/>
                <a:cs typeface="Bahnschrift"/>
              </a:rPr>
              <a:t>QUALITA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6306D-26F8-435F-9C5D-811C891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L'affidabilita non e arrivata alla fine.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1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 diventata una feature.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088D7-4034-49CA-8104-847142F9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108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A6573-FFFE-459D-A246-775443F6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test headless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D47A7-2730-4C0C-BAE9-29547C51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43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55D6A9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8451A-13FB-4141-B655-2986D32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versioni Python in 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F7C35-256F-405A-B035-D3B9929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431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7E9B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8A36B-79FC-49C8-BFCA-362341A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57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quality gate principali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67977-8BA6-434C-89BC-2E6EFE60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43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 i="0">
                <a:solidFill>
                  <a:srgbClr val="F04452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EE5E3-7043-49D4-B8C6-82998F76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hardware richiesto dai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10DB9-3FF3-4E74-A98A-727DE3E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A5D35-05E8-4167-9E59-B221A44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PROBLEMA OSSERVATO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42681-7BE0-404F-9FE1-2D6F91D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575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CORREZIONE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77B155-8E5E-4C99-8391-AD287EAA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57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9DA5B4"/>
                </a:solidFill>
                <a:latin typeface="Bahnschrift"/>
                <a:ea typeface="Bahnschrift"/>
                <a:cs typeface="Bahnschrift"/>
              </a:rPr>
              <a:t>PROVA AUTOMATICA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8954C-C850-4343-9CDA-9CE25171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8EC38-BA65-4CC7-8686-61FE32C6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AI ignora un blocco immediato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32F84-90FE-4CB4-B273-C1F29E8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766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0E6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F4F0E6"/>
                </a:solidFill>
                <a:latin typeface="Segoe UI"/>
                <a:ea typeface="Segoe UI"/>
                <a:cs typeface="Segoe UI"/>
              </a:rPr>
              <a:t>tactical safety net + watchdog GUI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864E1-212D-48A0-9E6E-E83C0151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766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04452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F04452"/>
                </a:solidFill>
                <a:latin typeface="Consolas"/>
                <a:ea typeface="Consolas"/>
                <a:cs typeface="Consolas"/>
              </a:rPr>
              <a:t>threat tests + full-game simulation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645DBE-36D8-4A68-9E42-40A78084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D5E1D7-97E5-43AC-9068-90F9856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Numeri e freccia sul lato del 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CFEA6-51A9-4028-82BD-A412A10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148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0E6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F4F0E6"/>
                </a:solidFill>
                <a:latin typeface="Segoe UI"/>
                <a:ea typeface="Segoe UI"/>
                <a:cs typeface="Segoe UI"/>
              </a:rPr>
              <a:t>corner sorting canonico TL/TR/BR/BL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2128A-58B5-4B42-ABAE-03AE7BC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148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F4C842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F4C842"/>
                </a:solidFill>
                <a:latin typeface="Consolas"/>
                <a:ea typeface="Consolas"/>
                <a:cs typeface="Consolas"/>
              </a:rPr>
              <a:t>permutazioni dei 4 click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FF080A-9714-4F4B-BA5B-C4768605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1E687E-9787-48BB-9BDB-D3B77DE0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Animazione AI saltata dopo 3 secondi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A9D54-1B2D-4381-9A7E-8A18EE7E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530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4F0E6"/>
                </a:solidFill>
                <a:latin typeface="Segoe UI"/>
                <a:ea typeface="Segoe UI"/>
                <a:cs typeface="Segoe UI"/>
              </a:defRPr>
            </a:pPr>
            <a:r>
              <a:rPr sz="1200" b="0" i="0">
                <a:solidFill>
                  <a:srgbClr val="F4F0E6"/>
                </a:solidFill>
                <a:latin typeface="Segoe UI"/>
                <a:ea typeface="Segoe UI"/>
                <a:cs typeface="Segoe UI"/>
              </a:rPr>
              <a:t>clock locale + get_ticks()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98B05-6B84-4B7D-9F93-3878BBB2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E9B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7E9BFF"/>
                </a:solidFill>
                <a:latin typeface="Consolas"/>
                <a:ea typeface="Consolas"/>
                <a:cs typeface="Consolas"/>
              </a:rPr>
              <a:t>regressione isolata nel flusso GUI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27A8E5-C7C4-47DD-A2EE-DA50B501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609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Ruff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9792D0-E5A6-42D8-B515-009FD72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5315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519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format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C3FDC-1327-4210-A8C4-E7C2C8EE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153150"/>
            <a:ext cx="685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Mypy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768F99-7614-4714-A8B0-461BD58C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53150"/>
            <a:ext cx="1390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Pytest + coverage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7F79E-0863-4CA9-89CD-B9FB1A2E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5315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1125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VoiceEngine: coda asincrona, backend null e fall-soft sugli errori audio.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07B99-52FD-44E5-B8CB-C4210FAD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1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793503-E854-4EC4-99E1-D65CE9BF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962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defRPr>
            </a:pPr>
            <a:r>
              <a:rPr sz="750" b="0" i="0">
                <a:solidFill>
                  <a:srgbClr val="9DA5B4"/>
                </a:solidFill>
                <a:latin typeface="Segoe UI"/>
                <a:ea typeface="Segoe UI"/>
                <a:cs typeface="Segoe UI"/>
              </a:rPr>
              <a:t>Fonte: tests/, CI workflow, voice.py e commit di regressione.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459910-83C1-4245-B06A-7D7BE480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3503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DA4A28-B4D8-407B-8138-69D2D7D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05F60-BC57-4DC0-B7DB-0E017B0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68D5E-DF0C-4F8C-8AFB-A56C0541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3886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Il prossimo passo</a:t>
            </a:r>
          </a:p>
          <a:p xmlns:a="http://schemas.openxmlformats.org/drawingml/2006/main">
            <a:pPr algn="l">
              <a:defRPr sz="34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3450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parte dai limiti reali.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20B331-8A2F-4C90-ACA0-881030C8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829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4F0E6"/>
                </a:solidFill>
                <a:latin typeface="Segoe UI"/>
                <a:ea typeface="Segoe UI"/>
                <a:cs typeface="Segoe UI"/>
              </a:defRPr>
            </a:pPr>
            <a:r>
              <a:rPr sz="1650" b="0" i="0">
                <a:solidFill>
                  <a:srgbClr val="F4F0E6"/>
                </a:solidFill>
                <a:latin typeface="Segoe UI"/>
                <a:ea typeface="Segoe UI"/>
                <a:cs typeface="Segoe UI"/>
              </a:rPr>
              <a:t>Pefforza non e un singolo modello.</a:t>
            </a:r>
          </a:p>
          <a:p xmlns:a="http://schemas.openxmlformats.org/drawingml/2006/main">
            <a:pPr algn="l">
              <a:defRPr sz="1650" b="0" i="0">
                <a:solidFill>
                  <a:srgbClr val="F4F0E6"/>
                </a:solidFill>
                <a:latin typeface="Segoe UI"/>
                <a:ea typeface="Segoe UI"/>
                <a:cs typeface="Segoe UI"/>
              </a:defRPr>
            </a:pPr>
            <a:r>
              <a:rPr sz="1650" b="0" i="0">
                <a:solidFill>
                  <a:srgbClr val="F4F0E6"/>
                </a:solidFill>
                <a:latin typeface="Segoe UI"/>
                <a:ea typeface="Segoe UI"/>
                <a:cs typeface="Segoe UI"/>
              </a:rPr>
              <a:t>E una pipeline completa, misurabile e migliorabile.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4EA75-91A8-4ECA-9C3C-756F256A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87ED0-9140-4EDA-9C74-A76B9288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defRPr>
            </a:pPr>
            <a:r>
              <a:rPr sz="1050" b="1" i="0">
                <a:solidFill>
                  <a:srgbClr val="F4C842"/>
                </a:solidFill>
                <a:latin typeface="Bahnschrift"/>
                <a:ea typeface="Bahnschrift"/>
                <a:cs typeface="Bahnschrift"/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24EA6-C239-4401-962E-BE82B99F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3829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L'intelligenza utile nasce quando percezione, algoritmi e affidabilita vengono progettati insieme.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9C088-2A38-495E-8928-370B0E42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066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44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F72D-12FB-40D5-8876-AF5C5663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0668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5EDF7-5491-46B9-85BE-9BDBD608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5811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07E9F-ECF3-4654-9624-58ADC7FC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47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HSV adattivo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34A7AC-BD74-460F-8D6E-AB1CF92A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478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Campionare i colori reali e compensare l'illuminazione.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E0FF5-7503-4961-8FAA-F7E6A6C4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67C42-576A-4F98-B8CD-9F8BF4FC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431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A349E-75F0-40DE-A434-EC7AFBC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85750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A956D-6811-4D54-9A2C-757DA2A3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Calibrazione automatica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286DF-8E53-4272-B553-F8351416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ArUco o contorni per eliminare i quattro click manuali.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19C1C-00EC-496A-9DF7-C4F107A1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19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D6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B5E11-2965-4E98-828F-0B04C98F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19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02754-E711-44BC-A3CB-F9934CB3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33850"/>
            <a:ext cx="38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89DC7-2C1A-4939-9CF3-31EE4D84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Self-play competitivo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CF501-CF00-4695-8E1C-633421E1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Allenare PPO contro avversari piu forti e versioni storiche.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556FF-727C-443A-A308-16B24F18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95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7BFFB-C367-4C81-BEC3-AC76B87D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958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12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P3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A98436-4C4B-44AE-B81B-FAD7A433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 i="0">
                <a:solidFill>
                  <a:srgbClr val="0B0D14"/>
                </a:solidFill>
                <a:latin typeface="Bahnschrift"/>
                <a:ea typeface="Bahnschrift"/>
                <a:cs typeface="Bahnschrift"/>
              </a:rPr>
              <a:t>Web + smartphone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46CCD-9BA6-4B89-9984-AC1B0F1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defRPr>
            </a:pPr>
            <a:r>
              <a:rPr sz="1275" b="0" i="0">
                <a:solidFill>
                  <a:srgbClr val="626B7A"/>
                </a:solidFill>
                <a:latin typeface="Segoe UI"/>
                <a:ea typeface="Segoe UI"/>
                <a:cs typeface="Segoe UI"/>
              </a:rPr>
              <a:t>ONNX e OpenCV.js per una demo senza installazione Python.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21A61-5929-40A9-8F12-3B30F11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00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defRPr>
            </a:pPr>
            <a:r>
              <a:rPr sz="975" b="1" i="0">
                <a:solidFill>
                  <a:srgbClr val="626B7A"/>
                </a:solidFill>
                <a:latin typeface="Bahnschrift"/>
                <a:ea typeface="Bahnschrift"/>
                <a:cs typeface="Bahnschrift"/>
              </a:rPr>
              <a:t>Demo consigliata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A7784-48DF-4562-BF44-1B23F4B7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293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315BFF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315BFF"/>
                </a:solidFill>
                <a:latin typeface="Consolas"/>
                <a:ea typeface="Consolas"/>
                <a:cs typeface="Consolas"/>
              </a:rPr>
              <a:t>GUI -&gt; diagnose -&gt; 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7CB85-599B-46E6-8C92-49817F1E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defRPr>
            </a:pPr>
            <a:r>
              <a:rPr sz="900" b="1" i="0">
                <a:solidFill>
                  <a:srgbClr val="315BFF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9416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2026-06-07T21:49:57.8170000Z</dcterms:created>
  <dcterms:modified xsi:type="dcterms:W3CDTF">2026-06-07T21:49:57.8180000Z</dcterms:modified>
</coreProperties>
</file>